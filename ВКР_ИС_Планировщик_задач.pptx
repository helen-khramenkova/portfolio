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8" r:id="rId4"/>
    <p:sldId id="264" r:id="rId5"/>
    <p:sldId id="276" r:id="rId6"/>
    <p:sldId id="271" r:id="rId7"/>
    <p:sldId id="281" r:id="rId8"/>
    <p:sldId id="282" r:id="rId9"/>
    <p:sldId id="272" r:id="rId10"/>
    <p:sldId id="273" r:id="rId11"/>
    <p:sldId id="277" r:id="rId12"/>
    <p:sldId id="278" r:id="rId13"/>
    <p:sldId id="279" r:id="rId14"/>
    <p:sldId id="257" r:id="rId15"/>
    <p:sldId id="274" r:id="rId16"/>
    <p:sldId id="283" r:id="rId17"/>
    <p:sldId id="284" r:id="rId18"/>
    <p:sldId id="260" r:id="rId19"/>
    <p:sldId id="275" r:id="rId20"/>
    <p:sldId id="265" r:id="rId21"/>
  </p:sldIdLst>
  <p:sldSz cx="18288000" cy="10287000"/>
  <p:notesSz cx="6858000" cy="9144000"/>
  <p:embeddedFontLst>
    <p:embeddedFont>
      <p:font typeface="Be Vietnam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ranklin Gothic Demi" panose="020B0703020102020204" pitchFamily="34" charset="0"/>
      <p:regular r:id="rId28"/>
      <p:italic r:id="rId29"/>
    </p:embeddedFont>
    <p:embeddedFont>
      <p:font typeface="Montserrat" panose="020B0604020202020204" charset="-52"/>
      <p:regular r:id="rId30"/>
    </p:embeddedFont>
    <p:embeddedFont>
      <p:font typeface="Montserrat Bold" panose="020B0604020202020204" charset="-52"/>
      <p:regular r:id="rId31"/>
    </p:embeddedFont>
    <p:embeddedFont>
      <p:font typeface="Open Sauce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F0"/>
    <a:srgbClr val="495A6A"/>
    <a:srgbClr val="0A0F16"/>
    <a:srgbClr val="5C5F64"/>
    <a:srgbClr val="8CABC0"/>
    <a:srgbClr val="2F3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0171D-FFDA-4A26-91AE-A07AC3B4AE7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1A03D-3543-41A8-B2E9-23D1F8A9F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11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1A03D-3543-41A8-B2E9-23D1F8A9FB0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2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D74-F91B-468B-A51A-4D700B83BC33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CF26A-39FF-4AF9-940D-47778237C01A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5CE7-DF21-48BD-8430-CA73C0ED85D5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E82A7-6E01-4B7B-A39F-F6FB975A1542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FD66-4BD1-4C0C-95E4-2A22CF174686}" type="datetime1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FA88-2F6B-4FBB-A0BA-349665C87F0F}" type="datetime1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5F08-1D34-42F4-B3EC-18C45A83FFC2}" type="datetime1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711EE-564C-4A3A-B983-4BE950E8DB8D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CB2E5-D479-4391-AC22-764B686B1E4B}" type="datetime1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A5DC-2F12-469F-8705-CBB643B39048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B4E02-A2A0-4DDD-B392-91FE93F071E5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B05D4-54B5-44FE-9982-CA59A655897A}" type="datetime1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33.svg"/><Relationship Id="rId5" Type="http://schemas.openxmlformats.org/officeDocument/2006/relationships/image" Target="../media/image37.svg"/><Relationship Id="rId10" Type="http://schemas.openxmlformats.org/officeDocument/2006/relationships/image" Target="../media/image32.png"/><Relationship Id="rId4" Type="http://schemas.openxmlformats.org/officeDocument/2006/relationships/image" Target="../media/image36.sv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jpeg"/><Relationship Id="rId4" Type="http://schemas.openxmlformats.org/officeDocument/2006/relationships/image" Target="../media/image51.jpeg"/><Relationship Id="rId9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b="-18555"/>
            </a:stretch>
          </a:blipFill>
        </p:spPr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2C880C6-0A0E-4851-92B0-F17BAA57B0D3}"/>
              </a:ext>
            </a:extLst>
          </p:cNvPr>
          <p:cNvSpPr/>
          <p:nvPr/>
        </p:nvSpPr>
        <p:spPr>
          <a:xfrm>
            <a:off x="11263184" y="0"/>
            <a:ext cx="9663992" cy="10400502"/>
          </a:xfrm>
          <a:prstGeom prst="parallelogram">
            <a:avLst>
              <a:gd name="adj" fmla="val 0"/>
            </a:avLst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4914332" y="8953500"/>
            <a:ext cx="9904959" cy="680751"/>
          </a:xfrm>
          <a:custGeom>
            <a:avLst/>
            <a:gdLst/>
            <a:ahLst/>
            <a:cxnLst/>
            <a:rect l="l" t="t" r="r" b="b"/>
            <a:pathLst>
              <a:path w="9904959" h="680751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73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52800" y="1295400"/>
            <a:ext cx="12726646" cy="7696200"/>
            <a:chOff x="0" y="0"/>
            <a:chExt cx="2608713" cy="9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8713" cy="945211"/>
            </a:xfrm>
            <a:custGeom>
              <a:avLst/>
              <a:gdLst/>
              <a:ahLst/>
              <a:cxnLst/>
              <a:rect l="l" t="t" r="r" b="b"/>
              <a:pathLst>
                <a:path w="2608713" h="945211">
                  <a:moveTo>
                    <a:pt x="0" y="0"/>
                  </a:moveTo>
                  <a:lnTo>
                    <a:pt x="2608713" y="0"/>
                  </a:lnTo>
                  <a:lnTo>
                    <a:pt x="2608713" y="945211"/>
                  </a:lnTo>
                  <a:lnTo>
                    <a:pt x="0" y="9452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608713" cy="964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397709" y="3857952"/>
            <a:ext cx="12618819" cy="2730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4"/>
              </a:lnSpc>
            </a:pPr>
            <a:r>
              <a:rPr lang="ru-RU" sz="5286" spc="74" dirty="0">
                <a:solidFill>
                  <a:srgbClr val="040506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Разработка программного обеспечения информационной системы планировщика задач</a:t>
            </a:r>
            <a:endParaRPr lang="en-US" sz="5286" spc="74" dirty="0">
              <a:solidFill>
                <a:srgbClr val="040506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73501" y="7619983"/>
            <a:ext cx="12493762" cy="914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ru-RU" sz="2653" b="1" spc="140" dirty="0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Выполнила: </a:t>
            </a:r>
            <a:r>
              <a:rPr lang="ru-RU" sz="2653" b="1" spc="140" dirty="0" err="1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Храменкова</a:t>
            </a:r>
            <a:r>
              <a:rPr lang="ru-RU" sz="2653" b="1" spc="140" dirty="0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 Е.А. 144 группа</a:t>
            </a:r>
          </a:p>
          <a:p>
            <a:pPr algn="ctr">
              <a:lnSpc>
                <a:spcPts val="3661"/>
              </a:lnSpc>
            </a:pPr>
            <a:r>
              <a:rPr lang="ru-RU" sz="2653" b="1" spc="140" dirty="0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Руководитель: Дмитриева Т.А. доцент, к.т.н.</a:t>
            </a:r>
            <a:endParaRPr lang="en-US" sz="2653" b="1" spc="140" dirty="0">
              <a:solidFill>
                <a:srgbClr val="231F20"/>
              </a:solidFill>
              <a:latin typeface="Montserrat" panose="020B0604020202020204" charset="-52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05E44-3F61-41DC-B94C-E18E5381F6FC}"/>
              </a:ext>
            </a:extLst>
          </p:cNvPr>
          <p:cNvSpPr txBox="1"/>
          <p:nvPr/>
        </p:nvSpPr>
        <p:spPr>
          <a:xfrm>
            <a:off x="4291393" y="1754125"/>
            <a:ext cx="116579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spc="220" dirty="0">
                <a:latin typeface="Montserrat" panose="020B0604020202020204" charset="-52"/>
              </a:rPr>
              <a:t>МИНИСТЕРСТВО НАУКИ И ВЫСШЕГО ОБРАЗОВАНИЯ </a:t>
            </a:r>
          </a:p>
          <a:p>
            <a:pPr algn="ctr"/>
            <a:r>
              <a:rPr lang="ru-RU" sz="2000" spc="220" dirty="0">
                <a:latin typeface="Montserrat" panose="020B0604020202020204" charset="-52"/>
              </a:rPr>
              <a:t>РОССИЙСКОЙ ФЕДЕРАЦИИ</a:t>
            </a:r>
          </a:p>
          <a:p>
            <a:pPr algn="ctr"/>
            <a:r>
              <a:rPr lang="ru-RU" sz="2000" spc="220" dirty="0">
                <a:latin typeface="Montserrat" panose="020B0604020202020204" charset="-52"/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algn="ctr"/>
            <a:r>
              <a:rPr lang="ru-RU" sz="2000" spc="220" dirty="0">
                <a:latin typeface="Montserrat" panose="020B0604020202020204" charset="-52"/>
              </a:rPr>
              <a:t>«Рязанский государственный радиотехнический университет имени В.Ф. Уткина»</a:t>
            </a:r>
          </a:p>
          <a:p>
            <a:pPr algn="ctr"/>
            <a:endParaRPr lang="ru-RU" sz="2000" dirty="0">
              <a:latin typeface="Montserrat" panose="020B0604020202020204" charset="-52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1BC8575-6229-4383-A564-6EBADF5CA341}"/>
              </a:ext>
            </a:extLst>
          </p:cNvPr>
          <p:cNvSpPr txBox="1"/>
          <p:nvPr/>
        </p:nvSpPr>
        <p:spPr>
          <a:xfrm>
            <a:off x="3619931" y="6855385"/>
            <a:ext cx="12493762" cy="439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ru-RU" sz="2653" b="1" spc="140" dirty="0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Направление подготовки: 09.03.03 Прикладная информатика</a:t>
            </a:r>
            <a:endParaRPr lang="en-US" sz="2653" b="1" spc="140" dirty="0">
              <a:solidFill>
                <a:srgbClr val="231F20"/>
              </a:solidFill>
              <a:latin typeface="Montserrat" panose="020B0604020202020204" charset="-52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46CCDE4E-25D3-493D-9F6F-953C9A4839AB}"/>
              </a:ext>
            </a:extLst>
          </p:cNvPr>
          <p:cNvSpPr txBox="1"/>
          <p:nvPr/>
        </p:nvSpPr>
        <p:spPr>
          <a:xfrm>
            <a:off x="3585684" y="9584717"/>
            <a:ext cx="12493762" cy="439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ru-RU" sz="2653" b="1" spc="140" dirty="0">
                <a:solidFill>
                  <a:srgbClr val="231F20"/>
                </a:solidFill>
                <a:latin typeface="Montserrat" panose="020B0604020202020204" charset="-52"/>
                <a:ea typeface="Montserrat Bold"/>
                <a:cs typeface="Montserrat Bold"/>
                <a:sym typeface="Montserrat Bold"/>
              </a:rPr>
              <a:t>Рязань 2025</a:t>
            </a:r>
            <a:endParaRPr lang="en-US" sz="2653" b="1" spc="140" dirty="0">
              <a:solidFill>
                <a:srgbClr val="231F20"/>
              </a:solidFill>
              <a:latin typeface="Montserrat" panose="020B0604020202020204" charset="-52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11" b="-61111"/>
            </a:stretch>
          </a:blipFill>
        </p:spPr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CC6A3E55-87BE-4283-99B4-3A3BD0A7E266}"/>
              </a:ext>
            </a:extLst>
          </p:cNvPr>
          <p:cNvSpPr/>
          <p:nvPr/>
        </p:nvSpPr>
        <p:spPr>
          <a:xfrm>
            <a:off x="13138" y="-2933700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7312" y="1028700"/>
            <a:ext cx="15591759" cy="8229600"/>
            <a:chOff x="0" y="0"/>
            <a:chExt cx="4106471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471" cy="2167467"/>
            </a:xfrm>
            <a:custGeom>
              <a:avLst/>
              <a:gdLst/>
              <a:ahLst/>
              <a:cxnLst/>
              <a:rect l="l" t="t" r="r" b="b"/>
              <a:pathLst>
                <a:path w="4106471" h="2167467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95914" y="3603602"/>
            <a:ext cx="3086100" cy="4784036"/>
            <a:chOff x="0" y="0"/>
            <a:chExt cx="812800" cy="1259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95914" y="5528564"/>
            <a:ext cx="3086100" cy="516103"/>
            <a:chOff x="0" y="0"/>
            <a:chExt cx="812800" cy="1359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35928"/>
            </a:xfrm>
            <a:custGeom>
              <a:avLst/>
              <a:gdLst/>
              <a:ahLst/>
              <a:cxnLst/>
              <a:rect l="l" t="t" r="r" b="b"/>
              <a:pathLst>
                <a:path w="812800" h="135928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ru-RU" sz="2199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Цифровизация</a:t>
              </a:r>
              <a:endPara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0738" y="3603602"/>
            <a:ext cx="3086100" cy="4784036"/>
            <a:chOff x="0" y="0"/>
            <a:chExt cx="812800" cy="12599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00738" y="5528564"/>
            <a:ext cx="3086100" cy="516103"/>
            <a:chOff x="0" y="0"/>
            <a:chExt cx="812800" cy="1359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35928"/>
            </a:xfrm>
            <a:custGeom>
              <a:avLst/>
              <a:gdLst/>
              <a:ahLst/>
              <a:cxnLst/>
              <a:rect l="l" t="t" r="r" b="b"/>
              <a:pathLst>
                <a:path w="812800" h="135928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ru-RU" sz="2199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Визуализация</a:t>
              </a:r>
              <a:endPara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01162" y="3603602"/>
            <a:ext cx="3086100" cy="4784036"/>
            <a:chOff x="0" y="0"/>
            <a:chExt cx="812800" cy="12599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01162" y="5528564"/>
            <a:ext cx="3086100" cy="516103"/>
            <a:chOff x="0" y="0"/>
            <a:chExt cx="812800" cy="1359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35928"/>
            </a:xfrm>
            <a:custGeom>
              <a:avLst/>
              <a:gdLst/>
              <a:ahLst/>
              <a:cxnLst/>
              <a:rect l="l" t="t" r="r" b="b"/>
              <a:pathLst>
                <a:path w="812800" h="135928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ru-RU" sz="2199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Гибкость</a:t>
              </a:r>
              <a:endPara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05986" y="3603602"/>
            <a:ext cx="3086100" cy="4784036"/>
            <a:chOff x="0" y="0"/>
            <a:chExt cx="812800" cy="125999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1259993"/>
            </a:xfrm>
            <a:custGeom>
              <a:avLst/>
              <a:gdLst/>
              <a:ahLst/>
              <a:cxnLst/>
              <a:rect l="l" t="t" r="r" b="b"/>
              <a:pathLst>
                <a:path w="812800" h="1259993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209820"/>
                  </a:lnTo>
                  <a:cubicBezTo>
                    <a:pt x="812800" y="1223127"/>
                    <a:pt x="807514" y="1235889"/>
                    <a:pt x="798105" y="1245298"/>
                  </a:cubicBezTo>
                  <a:cubicBezTo>
                    <a:pt x="788695" y="1254707"/>
                    <a:pt x="775934" y="1259993"/>
                    <a:pt x="762627" y="1259993"/>
                  </a:cubicBezTo>
                  <a:lnTo>
                    <a:pt x="50173" y="1259993"/>
                  </a:lnTo>
                  <a:cubicBezTo>
                    <a:pt x="36866" y="1259993"/>
                    <a:pt x="24105" y="1254707"/>
                    <a:pt x="14695" y="1245298"/>
                  </a:cubicBezTo>
                  <a:cubicBezTo>
                    <a:pt x="5286" y="1235889"/>
                    <a:pt x="0" y="1223127"/>
                    <a:pt x="0" y="1209820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12800" cy="127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05986" y="5528564"/>
            <a:ext cx="3086100" cy="516103"/>
            <a:chOff x="0" y="0"/>
            <a:chExt cx="812800" cy="1359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135928"/>
            </a:xfrm>
            <a:custGeom>
              <a:avLst/>
              <a:gdLst/>
              <a:ahLst/>
              <a:cxnLst/>
              <a:rect l="l" t="t" r="r" b="b"/>
              <a:pathLst>
                <a:path w="812800" h="135928">
                  <a:moveTo>
                    <a:pt x="0" y="0"/>
                  </a:moveTo>
                  <a:lnTo>
                    <a:pt x="812800" y="0"/>
                  </a:lnTo>
                  <a:lnTo>
                    <a:pt x="812800" y="135928"/>
                  </a:lnTo>
                  <a:lnTo>
                    <a:pt x="0" y="1359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ru-RU" sz="2199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Оптимизация</a:t>
              </a:r>
              <a:endPara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690980" y="1940019"/>
            <a:ext cx="10906040" cy="765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48"/>
              </a:lnSpc>
              <a:spcBef>
                <a:spcPct val="0"/>
              </a:spcBef>
            </a:pPr>
            <a:r>
              <a:rPr lang="ru-RU" sz="4745" u="none" strike="noStrike" spc="37" dirty="0">
                <a:solidFill>
                  <a:srgbClr val="010101"/>
                </a:solidFill>
                <a:latin typeface="Franklin Gothic Demi" panose="020B0703020102020204" pitchFamily="34" charset="0"/>
                <a:ea typeface="Archivo Black"/>
                <a:cs typeface="Archivo Black"/>
                <a:sym typeface="Archivo Black"/>
              </a:rPr>
              <a:t>АКТУАЛЬНОСТЬ</a:t>
            </a:r>
            <a:endParaRPr lang="en-US" sz="4745" u="none" strike="noStrike" spc="37" dirty="0">
              <a:solidFill>
                <a:srgbClr val="010101"/>
              </a:solidFill>
              <a:latin typeface="Franklin Gothic Demi" panose="020B0703020102020204" pitchFamily="3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640360" y="6208957"/>
            <a:ext cx="2722103" cy="2134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4"/>
              </a:lnSpc>
              <a:spcBef>
                <a:spcPct val="0"/>
              </a:spcBef>
            </a:pPr>
            <a:r>
              <a:rPr lang="ru-RU" sz="1510" spc="148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цифровизации способствовало переходу от бумажных методов фиксации к функциональным электронным решениям.</a:t>
            </a:r>
            <a:endParaRPr lang="en-US" sz="1510" spc="148" dirty="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975161" y="6208957"/>
            <a:ext cx="2937254" cy="1596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084"/>
              </a:lnSpc>
              <a:spcBef>
                <a:spcPct val="0"/>
              </a:spcBef>
            </a:pPr>
            <a:r>
              <a:rPr lang="ru-RU" sz="1510" spc="148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рабочих процессов значительно повышает эффективность управления временными ресурсами.</a:t>
            </a:r>
            <a:endParaRPr lang="en-US" sz="1510" spc="148" dirty="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445824" y="6202845"/>
            <a:ext cx="2722103" cy="105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4"/>
              </a:lnSpc>
              <a:spcBef>
                <a:spcPct val="0"/>
              </a:spcBef>
            </a:pPr>
            <a:r>
              <a:rPr lang="ru-RU" sz="1510" spc="148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Гибкая настройка под индивидуальные требования проекта или задачи.</a:t>
            </a:r>
            <a:endParaRPr lang="en-US" sz="1510" spc="148" dirty="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850431" y="6202845"/>
            <a:ext cx="2722103" cy="132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4"/>
              </a:lnSpc>
              <a:spcBef>
                <a:spcPct val="0"/>
              </a:spcBef>
            </a:pPr>
            <a:r>
              <a:rPr lang="ru-RU" sz="1510" spc="148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временных ресурсов, тем самым повышение общей продуктивности.</a:t>
            </a:r>
            <a:endParaRPr lang="en-US" sz="1510" spc="148" dirty="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Freeform 51">
            <a:extLst>
              <a:ext uri="{FF2B5EF4-FFF2-40B4-BE49-F238E27FC236}">
                <a16:creationId xmlns:a16="http://schemas.microsoft.com/office/drawing/2014/main" id="{FAADCEB7-C868-4887-B39C-938E4A51B00C}"/>
              </a:ext>
            </a:extLst>
          </p:cNvPr>
          <p:cNvSpPr/>
          <p:nvPr/>
        </p:nvSpPr>
        <p:spPr>
          <a:xfrm>
            <a:off x="3518601" y="4139380"/>
            <a:ext cx="1043208" cy="1029931"/>
          </a:xfrm>
          <a:custGeom>
            <a:avLst/>
            <a:gdLst/>
            <a:ahLst/>
            <a:cxnLst/>
            <a:rect l="l" t="t" r="r" b="b"/>
            <a:pathLst>
              <a:path w="1043208" h="1029931">
                <a:moveTo>
                  <a:pt x="0" y="0"/>
                </a:moveTo>
                <a:lnTo>
                  <a:pt x="1043208" y="0"/>
                </a:lnTo>
                <a:lnTo>
                  <a:pt x="1043208" y="1029930"/>
                </a:lnTo>
                <a:lnTo>
                  <a:pt x="0" y="102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38">
            <a:extLst>
              <a:ext uri="{FF2B5EF4-FFF2-40B4-BE49-F238E27FC236}">
                <a16:creationId xmlns:a16="http://schemas.microsoft.com/office/drawing/2014/main" id="{B24205FA-0C08-4ECC-AE20-5B2EDBADC7B5}"/>
              </a:ext>
            </a:extLst>
          </p:cNvPr>
          <p:cNvSpPr/>
          <p:nvPr/>
        </p:nvSpPr>
        <p:spPr>
          <a:xfrm>
            <a:off x="13701957" y="4124447"/>
            <a:ext cx="1019053" cy="1019053"/>
          </a:xfrm>
          <a:custGeom>
            <a:avLst/>
            <a:gdLst/>
            <a:ahLst/>
            <a:cxnLst/>
            <a:rect l="l" t="t" r="r" b="b"/>
            <a:pathLst>
              <a:path w="811663" h="811663">
                <a:moveTo>
                  <a:pt x="0" y="0"/>
                </a:moveTo>
                <a:lnTo>
                  <a:pt x="811663" y="0"/>
                </a:lnTo>
                <a:lnTo>
                  <a:pt x="811663" y="811663"/>
                </a:lnTo>
                <a:lnTo>
                  <a:pt x="0" y="8116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52">
            <a:extLst>
              <a:ext uri="{FF2B5EF4-FFF2-40B4-BE49-F238E27FC236}">
                <a16:creationId xmlns:a16="http://schemas.microsoft.com/office/drawing/2014/main" id="{BA830820-4B85-4815-8B49-0649D799F8FB}"/>
              </a:ext>
            </a:extLst>
          </p:cNvPr>
          <p:cNvSpPr/>
          <p:nvPr/>
        </p:nvSpPr>
        <p:spPr>
          <a:xfrm>
            <a:off x="10344150" y="4027615"/>
            <a:ext cx="925452" cy="1111350"/>
          </a:xfrm>
          <a:custGeom>
            <a:avLst/>
            <a:gdLst/>
            <a:ahLst/>
            <a:cxnLst/>
            <a:rect l="l" t="t" r="r" b="b"/>
            <a:pathLst>
              <a:path w="893040" h="1072428">
                <a:moveTo>
                  <a:pt x="0" y="0"/>
                </a:moveTo>
                <a:lnTo>
                  <a:pt x="893040" y="0"/>
                </a:lnTo>
                <a:lnTo>
                  <a:pt x="893040" y="1072428"/>
                </a:lnTo>
                <a:lnTo>
                  <a:pt x="0" y="10724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5">
            <a:extLst>
              <a:ext uri="{FF2B5EF4-FFF2-40B4-BE49-F238E27FC236}">
                <a16:creationId xmlns:a16="http://schemas.microsoft.com/office/drawing/2014/main" id="{D0907FDC-6B4F-4470-8BE9-677EB35E0584}"/>
              </a:ext>
            </a:extLst>
          </p:cNvPr>
          <p:cNvSpPr/>
          <p:nvPr/>
        </p:nvSpPr>
        <p:spPr>
          <a:xfrm>
            <a:off x="7046837" y="4046415"/>
            <a:ext cx="1106563" cy="1122896"/>
          </a:xfrm>
          <a:custGeom>
            <a:avLst/>
            <a:gdLst/>
            <a:ahLst/>
            <a:cxnLst/>
            <a:rect l="l" t="t" r="r" b="b"/>
            <a:pathLst>
              <a:path w="1027960" h="1043133">
                <a:moveTo>
                  <a:pt x="0" y="0"/>
                </a:moveTo>
                <a:lnTo>
                  <a:pt x="1027960" y="0"/>
                </a:lnTo>
                <a:lnTo>
                  <a:pt x="1027960" y="1043133"/>
                </a:lnTo>
                <a:lnTo>
                  <a:pt x="0" y="10431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E34562E-FDF1-4343-91A6-E820E74FF525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Номер слайда 23">
            <a:extLst>
              <a:ext uri="{FF2B5EF4-FFF2-40B4-BE49-F238E27FC236}">
                <a16:creationId xmlns:a16="http://schemas.microsoft.com/office/drawing/2014/main" id="{A9F0A2E1-A7C8-4259-8CC3-FBD06A4D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20803" y="9472284"/>
            <a:ext cx="257597" cy="463550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2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2925483">
            <a:off x="5978889" y="4633519"/>
            <a:ext cx="15026802" cy="1591351"/>
          </a:xfrm>
          <a:custGeom>
            <a:avLst/>
            <a:gdLst/>
            <a:ahLst/>
            <a:cxnLst/>
            <a:rect l="l" t="t" r="r" b="b"/>
            <a:pathLst>
              <a:path w="15026802" h="1591351">
                <a:moveTo>
                  <a:pt x="0" y="0"/>
                </a:moveTo>
                <a:lnTo>
                  <a:pt x="15026802" y="0"/>
                </a:lnTo>
                <a:lnTo>
                  <a:pt x="15026802" y="1591350"/>
                </a:lnTo>
                <a:lnTo>
                  <a:pt x="0" y="15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046979" y="0"/>
            <a:ext cx="9241021" cy="10396149"/>
            <a:chOff x="0" y="0"/>
            <a:chExt cx="5370413" cy="6041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4427" r="-3442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122031" y="4270779"/>
            <a:ext cx="1828744" cy="18287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22031" y="6625687"/>
            <a:ext cx="1828744" cy="182874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950263" y="803081"/>
            <a:ext cx="15859325" cy="2258023"/>
            <a:chOff x="0" y="0"/>
            <a:chExt cx="1537211" cy="218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37211" cy="218865"/>
            </a:xfrm>
            <a:custGeom>
              <a:avLst/>
              <a:gdLst/>
              <a:ahLst/>
              <a:cxnLst/>
              <a:rect l="l" t="t" r="r" b="b"/>
              <a:pathLst>
                <a:path w="1537211" h="218865">
                  <a:moveTo>
                    <a:pt x="1334011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537211" y="218865"/>
                  </a:lnTo>
                  <a:lnTo>
                    <a:pt x="1334011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600" y="-19050"/>
              <a:ext cx="1334011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112059" y="4000500"/>
            <a:ext cx="8537141" cy="225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u="sng" spc="220" dirty="0">
                <a:latin typeface="Montserrat Bold" panose="020B0604020202020204" charset="-52"/>
              </a:rPr>
              <a:t>Цель:</a:t>
            </a:r>
            <a:r>
              <a:rPr lang="ru-RU" sz="2000" b="1" spc="220" dirty="0">
                <a:latin typeface="Montserrat Bold" panose="020B0604020202020204" charset="-52"/>
              </a:rPr>
              <a:t> </a:t>
            </a:r>
            <a:r>
              <a:rPr lang="ru-RU" sz="2000" spc="220" dirty="0">
                <a:latin typeface="Montserrat" panose="020B0604020202020204" charset="-52"/>
              </a:rPr>
              <a:t>разработка программного обеспечения информационной системы планировщика задач, позволяющая сократить время на постановку задач, уменьшить количество просроченных задач, а также повысить общую производительность команды</a:t>
            </a:r>
            <a:r>
              <a:rPr lang="ru-RU" sz="2000" dirty="0">
                <a:latin typeface="Montserrat" panose="020B0604020202020204" charset="-52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22220" y="6667500"/>
            <a:ext cx="8765741" cy="179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ru-RU" sz="2000" u="sng" spc="216" dirty="0">
                <a:solidFill>
                  <a:srgbClr val="231F20"/>
                </a:solidFill>
                <a:latin typeface="Montserrat Bold" panose="020B0604020202020204" charset="-52"/>
                <a:ea typeface="Montserrat"/>
                <a:cs typeface="Montserrat"/>
                <a:sym typeface="Montserrat"/>
              </a:rPr>
              <a:t>Задачи:</a:t>
            </a:r>
            <a:r>
              <a:rPr lang="ru-RU" sz="2000" spc="216" dirty="0">
                <a:solidFill>
                  <a:srgbClr val="231F20"/>
                </a:solidFill>
                <a:latin typeface="Montserrat Bold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ru-RU" sz="2000" spc="216" dirty="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предметной области и существующих аналогов, спроектировать архитектуру системы, разработать пользовательский интерфейс, протестировать систему. </a:t>
            </a:r>
            <a:endParaRPr lang="en-US" sz="2000" spc="216" dirty="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122031" y="1304859"/>
            <a:ext cx="7416941" cy="113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86"/>
              </a:lnSpc>
              <a:spcBef>
                <a:spcPct val="0"/>
              </a:spcBef>
            </a:pPr>
            <a:r>
              <a:rPr lang="ru-RU" sz="6729" u="none" strike="noStrike" spc="53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Цели и задачи</a:t>
            </a:r>
            <a:endParaRPr lang="en-US" sz="6729" u="none" strike="noStrike" spc="53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" name="Freeform 45">
            <a:extLst>
              <a:ext uri="{FF2B5EF4-FFF2-40B4-BE49-F238E27FC236}">
                <a16:creationId xmlns:a16="http://schemas.microsoft.com/office/drawing/2014/main" id="{1CF7C565-3719-4E0A-9940-6091DBAF7445}"/>
              </a:ext>
            </a:extLst>
          </p:cNvPr>
          <p:cNvSpPr/>
          <p:nvPr/>
        </p:nvSpPr>
        <p:spPr>
          <a:xfrm>
            <a:off x="2590800" y="4610100"/>
            <a:ext cx="1027960" cy="1043133"/>
          </a:xfrm>
          <a:custGeom>
            <a:avLst/>
            <a:gdLst/>
            <a:ahLst/>
            <a:cxnLst/>
            <a:rect l="l" t="t" r="r" b="b"/>
            <a:pathLst>
              <a:path w="1027960" h="1043133">
                <a:moveTo>
                  <a:pt x="0" y="0"/>
                </a:moveTo>
                <a:lnTo>
                  <a:pt x="1027960" y="0"/>
                </a:lnTo>
                <a:lnTo>
                  <a:pt x="1027960" y="1043133"/>
                </a:lnTo>
                <a:lnTo>
                  <a:pt x="0" y="10431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48">
            <a:extLst>
              <a:ext uri="{FF2B5EF4-FFF2-40B4-BE49-F238E27FC236}">
                <a16:creationId xmlns:a16="http://schemas.microsoft.com/office/drawing/2014/main" id="{9578CE84-88E3-43AC-9D63-0820C9AF6B52}"/>
              </a:ext>
            </a:extLst>
          </p:cNvPr>
          <p:cNvSpPr/>
          <p:nvPr/>
        </p:nvSpPr>
        <p:spPr>
          <a:xfrm>
            <a:off x="2554364" y="7029475"/>
            <a:ext cx="964077" cy="978307"/>
          </a:xfrm>
          <a:custGeom>
            <a:avLst/>
            <a:gdLst/>
            <a:ahLst/>
            <a:cxnLst/>
            <a:rect l="l" t="t" r="r" b="b"/>
            <a:pathLst>
              <a:path w="964077" h="978307">
                <a:moveTo>
                  <a:pt x="0" y="0"/>
                </a:moveTo>
                <a:lnTo>
                  <a:pt x="964077" y="0"/>
                </a:lnTo>
                <a:lnTo>
                  <a:pt x="964077" y="978307"/>
                </a:lnTo>
                <a:lnTo>
                  <a:pt x="0" y="978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DA1DC120-E6A6-4DCF-9E9A-4914F75CD642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Номер слайда 23">
            <a:extLst>
              <a:ext uri="{FF2B5EF4-FFF2-40B4-BE49-F238E27FC236}">
                <a16:creationId xmlns:a16="http://schemas.microsoft.com/office/drawing/2014/main" id="{376A6245-BFA1-4F87-B931-349724E6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29218" y="9472284"/>
            <a:ext cx="354379" cy="463550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3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10190" y="-7563"/>
            <a:ext cx="1710961" cy="10674983"/>
            <a:chOff x="0" y="0"/>
            <a:chExt cx="450623" cy="28115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623" cy="2811518"/>
            </a:xfrm>
            <a:custGeom>
              <a:avLst/>
              <a:gdLst/>
              <a:ahLst/>
              <a:cxnLst/>
              <a:rect l="l" t="t" r="r" b="b"/>
              <a:pathLst>
                <a:path w="450623" h="2811518">
                  <a:moveTo>
                    <a:pt x="0" y="0"/>
                  </a:moveTo>
                  <a:lnTo>
                    <a:pt x="450623" y="0"/>
                  </a:lnTo>
                  <a:lnTo>
                    <a:pt x="450623" y="2811518"/>
                  </a:lnTo>
                  <a:lnTo>
                    <a:pt x="0" y="2811518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50623" cy="283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95937" y="333036"/>
            <a:ext cx="5325326" cy="85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1"/>
              </a:lnSpc>
              <a:spcBef>
                <a:spcPct val="0"/>
              </a:spcBef>
            </a:pPr>
            <a:r>
              <a:rPr lang="ru-RU" sz="5283" u="none" strike="noStrike" spc="184" dirty="0">
                <a:solidFill>
                  <a:srgbClr val="010101"/>
                </a:solidFill>
                <a:latin typeface="Franklin Gothic Demi" panose="020B0703020102020204" pitchFamily="34" charset="0"/>
                <a:ea typeface="Archivo Black"/>
                <a:cs typeface="Archivo Black"/>
                <a:sym typeface="Archivo Black"/>
              </a:rPr>
              <a:t>Обзор аналогов</a:t>
            </a:r>
            <a:endParaRPr lang="en-US" sz="5283" u="none" strike="noStrike" spc="184" dirty="0">
              <a:solidFill>
                <a:srgbClr val="010101"/>
              </a:solidFill>
              <a:latin typeface="Franklin Gothic Demi" panose="020B0703020102020204" pitchFamily="34" charset="0"/>
              <a:ea typeface="Archivo Black"/>
              <a:cs typeface="Archivo Black"/>
              <a:sym typeface="Archivo Black"/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F89997E1-BD28-4BD9-B1B4-6A08F8FF3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27960"/>
              </p:ext>
            </p:extLst>
          </p:nvPr>
        </p:nvGraphicFramePr>
        <p:xfrm>
          <a:off x="5562600" y="1714500"/>
          <a:ext cx="12192000" cy="762000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943301">
                  <a:extLst>
                    <a:ext uri="{9D8B030D-6E8A-4147-A177-3AD203B41FA5}">
                      <a16:colId xmlns:a16="http://schemas.microsoft.com/office/drawing/2014/main" val="2259461150"/>
                    </a:ext>
                  </a:extLst>
                </a:gridCol>
                <a:gridCol w="2681066">
                  <a:extLst>
                    <a:ext uri="{9D8B030D-6E8A-4147-A177-3AD203B41FA5}">
                      <a16:colId xmlns:a16="http://schemas.microsoft.com/office/drawing/2014/main" val="3204861550"/>
                    </a:ext>
                  </a:extLst>
                </a:gridCol>
                <a:gridCol w="2751518">
                  <a:extLst>
                    <a:ext uri="{9D8B030D-6E8A-4147-A177-3AD203B41FA5}">
                      <a16:colId xmlns:a16="http://schemas.microsoft.com/office/drawing/2014/main" val="3208508449"/>
                    </a:ext>
                  </a:extLst>
                </a:gridCol>
                <a:gridCol w="3816115">
                  <a:extLst>
                    <a:ext uri="{9D8B030D-6E8A-4147-A177-3AD203B41FA5}">
                      <a16:colId xmlns:a16="http://schemas.microsoft.com/office/drawing/2014/main" val="2817105325"/>
                    </a:ext>
                  </a:extLst>
                </a:gridCol>
              </a:tblGrid>
              <a:tr h="5016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 dirty="0">
                          <a:effectLst/>
                        </a:rPr>
                        <a:t>Функции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Trello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YouGile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Asana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939955"/>
                  </a:ext>
                </a:extLst>
              </a:tr>
              <a:tr h="1026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 dirty="0">
                          <a:effectLst/>
                        </a:rPr>
                        <a:t>Настройки прав пользователей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458757"/>
                  </a:ext>
                </a:extLst>
              </a:tr>
              <a:tr h="1026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Загрузка медиа файлов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-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3521255"/>
                  </a:ext>
                </a:extLst>
              </a:tr>
              <a:tr h="1026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Наличие базы данных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0227269"/>
                  </a:ext>
                </a:extLst>
              </a:tr>
              <a:tr h="959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Аналитика и отчеты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-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4235618"/>
                  </a:ext>
                </a:extLst>
              </a:tr>
              <a:tr h="1551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Удобство отображения данных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-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-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984661"/>
                  </a:ext>
                </a:extLst>
              </a:tr>
              <a:tr h="1026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Универсальность использования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>
                          <a:effectLst/>
                        </a:rPr>
                        <a:t>+</a:t>
                      </a:r>
                      <a:endParaRPr lang="ru-RU" sz="3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3700" dirty="0">
                          <a:effectLst/>
                        </a:rPr>
                        <a:t>+</a:t>
                      </a:r>
                      <a:endParaRPr lang="ru-RU" sz="3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3105710"/>
                  </a:ext>
                </a:extLst>
              </a:tr>
              <a:tr h="5016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Стоимость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платно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>
                          <a:effectLst/>
                        </a:rPr>
                        <a:t>платно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2400" dirty="0">
                          <a:effectLst/>
                        </a:rPr>
                        <a:t>платно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982686"/>
                  </a:ext>
                </a:extLst>
              </a:tr>
            </a:tbl>
          </a:graphicData>
        </a:graphic>
      </p:graphicFrame>
      <p:sp>
        <p:nvSpPr>
          <p:cNvPr id="16" name="Freeform 12">
            <a:extLst>
              <a:ext uri="{FF2B5EF4-FFF2-40B4-BE49-F238E27FC236}">
                <a16:creationId xmlns:a16="http://schemas.microsoft.com/office/drawing/2014/main" id="{6FC23B4B-D54F-4568-A4D3-148123922179}"/>
              </a:ext>
            </a:extLst>
          </p:cNvPr>
          <p:cNvSpPr/>
          <p:nvPr/>
        </p:nvSpPr>
        <p:spPr>
          <a:xfrm>
            <a:off x="-3200400" y="-44619"/>
            <a:ext cx="7924800" cy="10357625"/>
          </a:xfrm>
          <a:custGeom>
            <a:avLst/>
            <a:gdLst/>
            <a:ahLst/>
            <a:cxnLst/>
            <a:rect l="l" t="t" r="r" b="b"/>
            <a:pathLst>
              <a:path w="4398097" h="4398097">
                <a:moveTo>
                  <a:pt x="0" y="0"/>
                </a:moveTo>
                <a:lnTo>
                  <a:pt x="4398097" y="0"/>
                </a:lnTo>
                <a:lnTo>
                  <a:pt x="4398097" y="4398097"/>
                </a:lnTo>
                <a:lnTo>
                  <a:pt x="0" y="439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0699"/>
            </a:stretch>
          </a:blipFill>
        </p:spPr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B71DAF5-2664-480E-9BD7-64A45899CA78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897936DD-F44E-4BA7-9DFC-E3CAA9E6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77808" y="9486900"/>
            <a:ext cx="457200" cy="463550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4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AA0F5890-3D74-41C3-94D8-B81A3D7FAEA9}"/>
              </a:ext>
            </a:extLst>
          </p:cNvPr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216F870-454D-450C-B75C-A7296A976CF8}"/>
              </a:ext>
            </a:extLst>
          </p:cNvPr>
          <p:cNvSpPr txBox="1"/>
          <p:nvPr/>
        </p:nvSpPr>
        <p:spPr>
          <a:xfrm>
            <a:off x="1009650" y="1313588"/>
            <a:ext cx="162496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Средства разработки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626ABED-5948-435D-8D62-F68BA4762012}"/>
              </a:ext>
            </a:extLst>
          </p:cNvPr>
          <p:cNvSpPr txBox="1"/>
          <p:nvPr/>
        </p:nvSpPr>
        <p:spPr>
          <a:xfrm>
            <a:off x="1028700" y="2971223"/>
            <a:ext cx="55245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ru-RU" sz="3600" b="1" u="none" strike="noStrike" spc="-7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Платформа разработки</a:t>
            </a:r>
            <a:endParaRPr lang="en-US" sz="3600" b="1" u="none" strike="noStrike" spc="-7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58DF03E-0672-44F8-AD36-E81C67DE3853}"/>
              </a:ext>
            </a:extLst>
          </p:cNvPr>
          <p:cNvSpPr txBox="1"/>
          <p:nvPr/>
        </p:nvSpPr>
        <p:spPr>
          <a:xfrm>
            <a:off x="1028700" y="3825649"/>
            <a:ext cx="3638736" cy="720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«1С: Предприятие» (версия 8.3.25)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C3D536B-0BA3-4A2E-97DC-6BC809B899C9}"/>
              </a:ext>
            </a:extLst>
          </p:cNvPr>
          <p:cNvSpPr txBox="1"/>
          <p:nvPr/>
        </p:nvSpPr>
        <p:spPr>
          <a:xfrm>
            <a:off x="9144000" y="2971223"/>
            <a:ext cx="62484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ru-RU" sz="3600" b="1" spc="-7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Языки программирования</a:t>
            </a:r>
            <a:endParaRPr lang="en-US" sz="3600" b="1" spc="-7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D7C2FBE2-BA1C-4EA3-8D92-BAFD6BE4D462}"/>
              </a:ext>
            </a:extLst>
          </p:cNvPr>
          <p:cNvSpPr txBox="1"/>
          <p:nvPr/>
        </p:nvSpPr>
        <p:spPr>
          <a:xfrm>
            <a:off x="9144000" y="3825649"/>
            <a:ext cx="4572000" cy="1092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Встроенный язык программирования 1С;</a:t>
            </a:r>
          </a:p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Язык запросов 1С.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D282AAE-F9A7-46B3-AC1C-0CB9D3EF094C}"/>
              </a:ext>
            </a:extLst>
          </p:cNvPr>
          <p:cNvSpPr txBox="1"/>
          <p:nvPr/>
        </p:nvSpPr>
        <p:spPr>
          <a:xfrm>
            <a:off x="1009650" y="5225824"/>
            <a:ext cx="600075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ru-RU" sz="3600" b="1" spc="-7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Средства проектирования</a:t>
            </a:r>
            <a:endParaRPr lang="en-US" sz="3600" b="1" spc="-7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35918DA-2B61-4353-AB35-0F5DC7357071}"/>
              </a:ext>
            </a:extLst>
          </p:cNvPr>
          <p:cNvSpPr txBox="1"/>
          <p:nvPr/>
        </p:nvSpPr>
        <p:spPr>
          <a:xfrm>
            <a:off x="1009650" y="6080250"/>
            <a:ext cx="3638736" cy="72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Конфигуратор 1С;</a:t>
            </a:r>
          </a:p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Low-code</a:t>
            </a: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 подход.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9344134A-46C3-48A5-B124-880731970441}"/>
              </a:ext>
            </a:extLst>
          </p:cNvPr>
          <p:cNvSpPr txBox="1"/>
          <p:nvPr/>
        </p:nvSpPr>
        <p:spPr>
          <a:xfrm>
            <a:off x="9124950" y="5225824"/>
            <a:ext cx="634365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ru-RU" sz="3600" b="1" spc="-7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Инструменты тестирования</a:t>
            </a:r>
            <a:endParaRPr lang="en-US" sz="3600" b="1" spc="-7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A0471AF-312C-4077-883A-94926E0FB41F}"/>
              </a:ext>
            </a:extLst>
          </p:cNvPr>
          <p:cNvSpPr txBox="1"/>
          <p:nvPr/>
        </p:nvSpPr>
        <p:spPr>
          <a:xfrm>
            <a:off x="9124950" y="6080250"/>
            <a:ext cx="4514666" cy="720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Встроенный отладчик 1С;</a:t>
            </a:r>
          </a:p>
          <a:p>
            <a:pPr marL="342900" indent="-342900" algn="l">
              <a:lnSpc>
                <a:spcPts val="28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Ручное тестирование.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374B310-7F8A-4C35-BEB6-A0DE2A8C4202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7786C9-72FD-4686-954C-FAB4B6FB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73600" y="9410371"/>
            <a:ext cx="232808" cy="587375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5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4E094DAC-A808-41CF-8DD4-B361D64FBA53}"/>
              </a:ext>
            </a:extLst>
          </p:cNvPr>
          <p:cNvSpPr txBox="1"/>
          <p:nvPr/>
        </p:nvSpPr>
        <p:spPr>
          <a:xfrm>
            <a:off x="1034878" y="7234077"/>
            <a:ext cx="600075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ru-RU" sz="3600" b="1" spc="-7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Средства разработки</a:t>
            </a:r>
            <a:endParaRPr lang="en-US" sz="3600" b="1" spc="-7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4CDE51BA-14DD-4458-819E-CBE15377CC90}"/>
              </a:ext>
            </a:extLst>
          </p:cNvPr>
          <p:cNvSpPr txBox="1"/>
          <p:nvPr/>
        </p:nvSpPr>
        <p:spPr>
          <a:xfrm>
            <a:off x="1028700" y="8004062"/>
            <a:ext cx="5016493" cy="72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spc="96" dirty="0" err="1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StarUML</a:t>
            </a:r>
            <a:r>
              <a:rPr lang="en-US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 – UML-</a:t>
            </a: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проектирование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Draw.io – </a:t>
            </a:r>
            <a:r>
              <a:rPr lang="ru-RU" sz="2400" spc="96" dirty="0">
                <a:solidFill>
                  <a:srgbClr val="303233"/>
                </a:solidFill>
                <a:latin typeface="Be Vietnam"/>
                <a:ea typeface="Be Vietnam"/>
                <a:cs typeface="Be Vietnam"/>
                <a:sym typeface="Be Vietnam"/>
              </a:rPr>
              <a:t>проектирование БД</a:t>
            </a:r>
            <a:endParaRPr lang="en-US" sz="2400" spc="96" dirty="0">
              <a:solidFill>
                <a:srgbClr val="303233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  <p:extLst>
      <p:ext uri="{BB962C8B-B14F-4D97-AF65-F5344CB8AC3E}">
        <p14:creationId xmlns:p14="http://schemas.microsoft.com/office/powerpoint/2010/main" val="20422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00208" y="78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Freeform 3"/>
          <p:cNvSpPr/>
          <p:nvPr/>
        </p:nvSpPr>
        <p:spPr>
          <a:xfrm rot="2977288">
            <a:off x="10630356" y="2444045"/>
            <a:ext cx="11269620" cy="1193462"/>
          </a:xfrm>
          <a:custGeom>
            <a:avLst/>
            <a:gdLst/>
            <a:ahLst/>
            <a:cxnLst/>
            <a:rect l="l" t="t" r="r" b="b"/>
            <a:pathLst>
              <a:path w="13471756" h="1426670">
                <a:moveTo>
                  <a:pt x="0" y="0"/>
                </a:moveTo>
                <a:lnTo>
                  <a:pt x="13471756" y="0"/>
                </a:lnTo>
                <a:lnTo>
                  <a:pt x="13471756" y="1426671"/>
                </a:lnTo>
                <a:lnTo>
                  <a:pt x="0" y="1426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4686" y="330844"/>
            <a:ext cx="10199514" cy="1683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42"/>
              </a:lnSpc>
              <a:spcBef>
                <a:spcPct val="0"/>
              </a:spcBef>
            </a:pPr>
            <a:r>
              <a:rPr lang="ru-RU" sz="4960" u="none" strike="noStrike" spc="173" dirty="0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Разработка информационной системы</a:t>
            </a:r>
            <a:endParaRPr lang="en-US" sz="4960" u="none" strike="noStrike" spc="173" dirty="0">
              <a:solidFill>
                <a:srgbClr val="010101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A39273-2126-40F5-8806-67C59CEE7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056" y="3692550"/>
            <a:ext cx="18007673" cy="584562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3624F22-BC0B-4737-A690-46000818A618}"/>
              </a:ext>
            </a:extLst>
          </p:cNvPr>
          <p:cNvSpPr txBox="1"/>
          <p:nvPr/>
        </p:nvSpPr>
        <p:spPr>
          <a:xfrm>
            <a:off x="5501118" y="9486900"/>
            <a:ext cx="7929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</a:t>
            </a:r>
            <a:r>
              <a:rPr lang="en-US" sz="2400" spc="220" dirty="0">
                <a:latin typeface="Montserrat" panose="020B0604020202020204" charset="-52"/>
              </a:rPr>
              <a:t>1</a:t>
            </a:r>
            <a:r>
              <a:rPr lang="ru-RU" sz="2400" spc="220" dirty="0">
                <a:latin typeface="Montserrat" panose="020B0604020202020204" charset="-52"/>
              </a:rPr>
              <a:t> – Варианты использования</a:t>
            </a:r>
          </a:p>
          <a:p>
            <a:endParaRPr lang="ru-RU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95E7C1-116E-4278-B31C-B289B25E1243}"/>
              </a:ext>
            </a:extLst>
          </p:cNvPr>
          <p:cNvSpPr txBox="1"/>
          <p:nvPr/>
        </p:nvSpPr>
        <p:spPr>
          <a:xfrm>
            <a:off x="544686" y="2115060"/>
            <a:ext cx="15146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pc="220" dirty="0">
                <a:latin typeface="Montserrat" panose="020B0604020202020204" charset="-52"/>
              </a:rPr>
              <a:t>Реализована системная диаграмма вариантов использования </a:t>
            </a:r>
            <a:r>
              <a:rPr lang="en-US" sz="2400" spc="220" dirty="0">
                <a:latin typeface="Montserrat" panose="020B0604020202020204" charset="-52"/>
              </a:rPr>
              <a:t>(Use Case Diagram)</a:t>
            </a:r>
            <a:r>
              <a:rPr lang="ru-RU" sz="2400" spc="220" dirty="0">
                <a:latin typeface="Montserrat" panose="020B0604020202020204" charset="-52"/>
              </a:rPr>
              <a:t> отражает ключевые взаимодействия между пользователями и разработанной информационной системой планировщика задач.</a:t>
            </a:r>
          </a:p>
          <a:p>
            <a:endParaRPr lang="ru-RU" sz="2400" dirty="0"/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C304C967-D59D-4E32-A304-0E5A8D0DA3F8}"/>
              </a:ext>
            </a:extLst>
          </p:cNvPr>
          <p:cNvGrpSpPr>
            <a:grpSpLocks noChangeAspect="1"/>
          </p:cNvGrpSpPr>
          <p:nvPr/>
        </p:nvGrpSpPr>
        <p:grpSpPr>
          <a:xfrm>
            <a:off x="14046551" y="0"/>
            <a:ext cx="4241449" cy="4771630"/>
            <a:chOff x="0" y="0"/>
            <a:chExt cx="5370413" cy="6041715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C234A730-2D81-4DE8-ADCD-BB1A30E62326}"/>
                </a:ext>
              </a:extLst>
            </p:cNvPr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E29FAE9D-E8CC-4FEA-8188-EA39FB95C744}"/>
                </a:ext>
              </a:extLst>
            </p:cNvPr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5"/>
              <a:stretch>
                <a:fillRect l="-34427" r="-34427"/>
              </a:stretch>
            </a:blipFill>
          </p:spPr>
        </p:sp>
      </p:grpSp>
      <p:sp>
        <p:nvSpPr>
          <p:cNvPr id="13" name="Овал 12">
            <a:extLst>
              <a:ext uri="{FF2B5EF4-FFF2-40B4-BE49-F238E27FC236}">
                <a16:creationId xmlns:a16="http://schemas.microsoft.com/office/drawing/2014/main" id="{30CB56E3-8C8A-49AB-88AB-AF58C3332B2F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Номер слайда 39">
            <a:extLst>
              <a:ext uri="{FF2B5EF4-FFF2-40B4-BE49-F238E27FC236}">
                <a16:creationId xmlns:a16="http://schemas.microsoft.com/office/drawing/2014/main" id="{9EFE8A99-715E-434B-9C47-04E71C52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70535" y="9524744"/>
            <a:ext cx="457200" cy="358629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6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9201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3C1E245-1544-46B3-AB49-341B161F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EB035BAF-F776-49F2-9FE0-5DD2E3AA0D53}"/>
              </a:ext>
            </a:extLst>
          </p:cNvPr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8363C4-ACC0-483E-9BC2-AC9375CD76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2761" y="2508521"/>
            <a:ext cx="16582478" cy="6094254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C66B22F6-C5AE-4864-B343-BDE9DC788804}"/>
              </a:ext>
            </a:extLst>
          </p:cNvPr>
          <p:cNvSpPr txBox="1"/>
          <p:nvPr/>
        </p:nvSpPr>
        <p:spPr>
          <a:xfrm>
            <a:off x="0" y="935196"/>
            <a:ext cx="182880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Классы-сущности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D55BAB5F-F918-4A2C-A4F6-FDC4F5891D01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9F66E5-3E0D-49D7-8C9D-E7A9429E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92108" y="9521496"/>
            <a:ext cx="228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7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94784-3D3A-4C23-BB85-C06826439B2D}"/>
              </a:ext>
            </a:extLst>
          </p:cNvPr>
          <p:cNvSpPr txBox="1"/>
          <p:nvPr/>
        </p:nvSpPr>
        <p:spPr>
          <a:xfrm>
            <a:off x="5791200" y="9055624"/>
            <a:ext cx="792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2 – Классы-сущности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7920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C470954-C9C2-4FF0-85C9-9D83DF14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61BB043F-F552-4077-A9D5-E6563F40F3EC}"/>
              </a:ext>
            </a:extLst>
          </p:cNvPr>
          <p:cNvSpPr/>
          <p:nvPr/>
        </p:nvSpPr>
        <p:spPr>
          <a:xfrm flipH="1" flipV="1">
            <a:off x="0" y="78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BC9A9F-3860-48D0-B294-B86A967565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8787" y="2895600"/>
            <a:ext cx="8852285" cy="44958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A7F9B5-4BDA-483C-B134-752A2FF8201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289859" y="2903428"/>
            <a:ext cx="8501417" cy="46022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92F70-10E7-4C9C-BEA3-4F2BCDF0A329}"/>
              </a:ext>
            </a:extLst>
          </p:cNvPr>
          <p:cNvSpPr txBox="1"/>
          <p:nvPr/>
        </p:nvSpPr>
        <p:spPr>
          <a:xfrm>
            <a:off x="876299" y="758190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pc="220" dirty="0">
                <a:latin typeface="Montserrat" panose="020B0604020202020204" charset="-52"/>
              </a:rPr>
              <a:t>Рисунок 3 – Декомпозиция прецедента «Прикрепление файлов»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8A50D-D465-48BE-B441-A9045D8292D4}"/>
              </a:ext>
            </a:extLst>
          </p:cNvPr>
          <p:cNvSpPr txBox="1"/>
          <p:nvPr/>
        </p:nvSpPr>
        <p:spPr>
          <a:xfrm>
            <a:off x="9844867" y="7581899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pc="220" dirty="0">
                <a:latin typeface="Montserrat" panose="020B0604020202020204" charset="-52"/>
              </a:rPr>
              <a:t>Рисунок 4 – Декомпозиция прецедента «Редактирование актуальной информации»</a:t>
            </a:r>
            <a:endParaRPr lang="ru-RU" sz="24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423FB275-A42A-4232-835B-85804787B190}"/>
              </a:ext>
            </a:extLst>
          </p:cNvPr>
          <p:cNvSpPr txBox="1"/>
          <p:nvPr/>
        </p:nvSpPr>
        <p:spPr>
          <a:xfrm>
            <a:off x="0" y="935196"/>
            <a:ext cx="182880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Декомпозиция прецедентов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095410D-52DB-4486-BD36-F07F7E02FFF0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4BF28F-7EDB-4CD1-9B83-2EE4C2AC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92108" y="9521496"/>
            <a:ext cx="228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8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9965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TextBox 10"/>
          <p:cNvSpPr txBox="1"/>
          <p:nvPr/>
        </p:nvSpPr>
        <p:spPr>
          <a:xfrm>
            <a:off x="766175" y="876300"/>
            <a:ext cx="9454436" cy="1683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42"/>
              </a:lnSpc>
              <a:spcBef>
                <a:spcPct val="0"/>
              </a:spcBef>
            </a:pPr>
            <a:r>
              <a:rPr lang="ru-RU" sz="4960" u="none" strike="noStrike" spc="173" dirty="0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Алгоритм формирования диаграммы </a:t>
            </a:r>
            <a:r>
              <a:rPr lang="ru-RU" sz="4960" u="none" strike="noStrike" spc="173" dirty="0" err="1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Ганта</a:t>
            </a:r>
            <a:endParaRPr lang="en-US" sz="4960" u="none" strike="noStrike" spc="173" dirty="0">
              <a:solidFill>
                <a:srgbClr val="010101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0075F-53A9-49C5-8333-921C10AF9F03}"/>
              </a:ext>
            </a:extLst>
          </p:cNvPr>
          <p:cNvSpPr txBox="1"/>
          <p:nvPr/>
        </p:nvSpPr>
        <p:spPr>
          <a:xfrm>
            <a:off x="766175" y="2935823"/>
            <a:ext cx="68538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pc="220" dirty="0">
                <a:latin typeface="Montserrat" panose="020B0604020202020204" charset="-52"/>
              </a:rPr>
              <a:t>Визуализация хронологии выполнения задач для проекта, показывает сроки выполнения и порядок выполнения. Диаграмма указывает за кем закреплена задача, и в какие сроки ее необходимо выполнить, что позволяет настроить координацию команды.</a:t>
            </a:r>
          </a:p>
          <a:p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0F4ED7-7794-429D-AE73-B78EA39AF675}"/>
              </a:ext>
            </a:extLst>
          </p:cNvPr>
          <p:cNvSpPr txBox="1"/>
          <p:nvPr/>
        </p:nvSpPr>
        <p:spPr>
          <a:xfrm>
            <a:off x="9143999" y="9315737"/>
            <a:ext cx="7780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5 – Алгоритм диаграммы </a:t>
            </a:r>
            <a:r>
              <a:rPr lang="ru-RU" sz="2400" spc="220" dirty="0" err="1">
                <a:latin typeface="Montserrat" panose="020B0604020202020204" charset="-52"/>
              </a:rPr>
              <a:t>Ганта</a:t>
            </a:r>
            <a:endParaRPr lang="ru-RU" sz="2400" spc="220" dirty="0">
              <a:latin typeface="Montserrat" panose="020B0604020202020204" charset="-52"/>
            </a:endParaRPr>
          </a:p>
          <a:p>
            <a:endParaRPr lang="ru-RU" sz="2400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CD5A2A86-C39F-413F-9277-D62B77A54807}"/>
              </a:ext>
            </a:extLst>
          </p:cNvPr>
          <p:cNvSpPr/>
          <p:nvPr/>
        </p:nvSpPr>
        <p:spPr>
          <a:xfrm rot="-8949716">
            <a:off x="-2342739" y="8347255"/>
            <a:ext cx="10771889" cy="1140752"/>
          </a:xfrm>
          <a:custGeom>
            <a:avLst/>
            <a:gdLst/>
            <a:ahLst/>
            <a:cxnLst/>
            <a:rect l="l" t="t" r="r" b="b"/>
            <a:pathLst>
              <a:path w="10771889" h="1140752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616B1896-6385-4D20-8354-8121B825CB15}"/>
              </a:ext>
            </a:extLst>
          </p:cNvPr>
          <p:cNvSpPr/>
          <p:nvPr/>
        </p:nvSpPr>
        <p:spPr>
          <a:xfrm>
            <a:off x="0" y="6963237"/>
            <a:ext cx="5524774" cy="3308594"/>
          </a:xfrm>
          <a:prstGeom prst="rtTriangle">
            <a:avLst/>
          </a:prstGeom>
          <a:blipFill>
            <a:blip r:embed="rId4"/>
            <a:stretch>
              <a:fillRect t="-21183" b="-34140"/>
            </a:stretch>
          </a:blipFill>
        </p:spPr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F423129-FB8D-4AB5-8FC0-42F6B6310898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7AF07F-775E-46CC-9254-6CF14F92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49800" y="9486900"/>
            <a:ext cx="334381" cy="422604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9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84E5D0-A573-45DA-8E86-007E3DCF8E6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207520" y="19953"/>
            <a:ext cx="5794480" cy="922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9238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TextBox 10"/>
          <p:cNvSpPr txBox="1"/>
          <p:nvPr/>
        </p:nvSpPr>
        <p:spPr>
          <a:xfrm>
            <a:off x="457200" y="255676"/>
            <a:ext cx="7919063" cy="2555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42"/>
              </a:lnSpc>
              <a:spcBef>
                <a:spcPct val="0"/>
              </a:spcBef>
            </a:pPr>
            <a:r>
              <a:rPr lang="ru-RU" sz="4958" u="none" strike="noStrike" spc="173" dirty="0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Алгоритм подсчета загрузки сотрудников</a:t>
            </a:r>
            <a:endParaRPr lang="en-US" sz="4958" u="none" strike="noStrike" spc="173" dirty="0">
              <a:solidFill>
                <a:srgbClr val="010101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EC05B-F40F-4967-8431-B209CADCD5F1}"/>
              </a:ext>
            </a:extLst>
          </p:cNvPr>
          <p:cNvSpPr txBox="1"/>
          <p:nvPr/>
        </p:nvSpPr>
        <p:spPr>
          <a:xfrm>
            <a:off x="9104827" y="9419232"/>
            <a:ext cx="8691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pc="220" dirty="0">
                <a:latin typeface="Montserrat" panose="020B0604020202020204" charset="-52"/>
              </a:rPr>
              <a:t>Рисунок 6 – Алгоритм подсчета загрузки сотрудников</a:t>
            </a:r>
          </a:p>
          <a:p>
            <a:pPr algn="ctr"/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5C686-D201-4D55-AD87-3CC901F1A525}"/>
              </a:ext>
            </a:extLst>
          </p:cNvPr>
          <p:cNvSpPr txBox="1"/>
          <p:nvPr/>
        </p:nvSpPr>
        <p:spPr>
          <a:xfrm>
            <a:off x="457200" y="2973628"/>
            <a:ext cx="708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pc="220" dirty="0">
                <a:latin typeface="Montserrat" panose="020B0604020202020204" charset="-52"/>
              </a:rPr>
              <a:t>Каждая задача занимает различное время, и визуализация того, что у каждого участника команды по несколько карточек, не дает точной информации о загрузке. Пользователям для определения нагрузки необходимо заходить на каждую карточку и самостоятельно проводить анализ веса задачи.</a:t>
            </a:r>
          </a:p>
          <a:p>
            <a:pPr algn="just"/>
            <a:r>
              <a:rPr lang="ru-RU" sz="2400" spc="220" dirty="0">
                <a:latin typeface="Montserrat" panose="020B0604020202020204" charset="-52"/>
              </a:rPr>
              <a:t>Решением данной проблемы является</a:t>
            </a:r>
            <a:r>
              <a:rPr lang="en-US" sz="2400" spc="220" dirty="0">
                <a:latin typeface="Montserrat" panose="020B0604020202020204" charset="-52"/>
              </a:rPr>
              <a:t> </a:t>
            </a:r>
            <a:r>
              <a:rPr lang="ru-RU" sz="2400" spc="220" dirty="0">
                <a:latin typeface="Montserrat" panose="020B0604020202020204" charset="-52"/>
              </a:rPr>
              <a:t>данный алгоритм.</a:t>
            </a: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37727A42-33F8-4DF5-91A9-763380F2FFFD}"/>
              </a:ext>
            </a:extLst>
          </p:cNvPr>
          <p:cNvSpPr/>
          <p:nvPr/>
        </p:nvSpPr>
        <p:spPr>
          <a:xfrm rot="-8949716">
            <a:off x="-2296058" y="8217214"/>
            <a:ext cx="10771889" cy="1140752"/>
          </a:xfrm>
          <a:custGeom>
            <a:avLst/>
            <a:gdLst/>
            <a:ahLst/>
            <a:cxnLst/>
            <a:rect l="l" t="t" r="r" b="b"/>
            <a:pathLst>
              <a:path w="10771889" h="1140752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CD7BAF4-7738-467D-AF83-C49F160C129F}"/>
              </a:ext>
            </a:extLst>
          </p:cNvPr>
          <p:cNvSpPr/>
          <p:nvPr/>
        </p:nvSpPr>
        <p:spPr>
          <a:xfrm>
            <a:off x="0" y="6963237"/>
            <a:ext cx="5524774" cy="3308594"/>
          </a:xfrm>
          <a:prstGeom prst="rtTriangle">
            <a:avLst/>
          </a:prstGeom>
          <a:blipFill>
            <a:blip r:embed="rId4"/>
            <a:stretch>
              <a:fillRect t="-21183" b="-34140"/>
            </a:stretch>
          </a:blipFill>
        </p:spPr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30E8DFE-1A7B-49F1-85FC-41F935611408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06992C-B3C3-4A06-8084-A281EEED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49872" y="9475875"/>
            <a:ext cx="713071" cy="456368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10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E6E6F3C-52F6-4F7D-84C7-881F7A2D9AF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3616178" y="264545"/>
            <a:ext cx="4375439" cy="32425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72DB0BE-AD2F-4411-AD36-F04C10D1E1C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961858" y="255676"/>
            <a:ext cx="5654320" cy="92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0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01F61913-8916-4EBC-AE15-9FC94BAD6A93}"/>
              </a:ext>
            </a:extLst>
          </p:cNvPr>
          <p:cNvSpPr/>
          <p:nvPr/>
        </p:nvSpPr>
        <p:spPr>
          <a:xfrm flipH="1"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259DEC-6987-4E69-A803-146C7879B6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57656" y="1624721"/>
            <a:ext cx="13860312" cy="7694130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31C75F5C-B977-4A12-80B3-62A7566A17FE}"/>
              </a:ext>
            </a:extLst>
          </p:cNvPr>
          <p:cNvSpPr txBox="1"/>
          <p:nvPr/>
        </p:nvSpPr>
        <p:spPr>
          <a:xfrm>
            <a:off x="2447925" y="647700"/>
            <a:ext cx="1339215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Концептуальная модель базы данных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B14C325-28FC-486F-BF8E-348D054908A5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C8BAD71-34F0-4E18-9FC2-BB9450A7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18554" y="9473759"/>
            <a:ext cx="575708" cy="463550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11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CEE2F-1E22-4571-A07E-E77BFDEE3613}"/>
              </a:ext>
            </a:extLst>
          </p:cNvPr>
          <p:cNvSpPr txBox="1"/>
          <p:nvPr/>
        </p:nvSpPr>
        <p:spPr>
          <a:xfrm>
            <a:off x="4118333" y="9482907"/>
            <a:ext cx="10338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7 – Концептуальная модель базы данных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70207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45C20802-0EB3-4327-9500-26C7B7FEE065}"/>
              </a:ext>
            </a:extLst>
          </p:cNvPr>
          <p:cNvSpPr/>
          <p:nvPr/>
        </p:nvSpPr>
        <p:spPr>
          <a:xfrm flipH="1"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D6B1F77-2CE0-4C87-9684-82D5F5273EDD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635DF2-E536-4663-8FBE-B71BCCC7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63508" y="9510384"/>
            <a:ext cx="685800" cy="387350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12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BA7090-FAE3-4A51-881B-AF2A3F6FFFF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64746" y="1714500"/>
            <a:ext cx="15358508" cy="7123746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A0339D6C-12E5-47BC-9DB1-99E214577DF2}"/>
              </a:ext>
            </a:extLst>
          </p:cNvPr>
          <p:cNvSpPr txBox="1"/>
          <p:nvPr/>
        </p:nvSpPr>
        <p:spPr>
          <a:xfrm>
            <a:off x="0" y="628650"/>
            <a:ext cx="182880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Логическая модель базы данных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EBCAA-CC2A-4292-AE85-8E3B53E054CB}"/>
              </a:ext>
            </a:extLst>
          </p:cNvPr>
          <p:cNvSpPr txBox="1"/>
          <p:nvPr/>
        </p:nvSpPr>
        <p:spPr>
          <a:xfrm>
            <a:off x="5181600" y="9087241"/>
            <a:ext cx="9815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8 – Логическая модель базы данных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127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45C20802-0EB3-4327-9500-26C7B7FEE065}"/>
              </a:ext>
            </a:extLst>
          </p:cNvPr>
          <p:cNvSpPr/>
          <p:nvPr/>
        </p:nvSpPr>
        <p:spPr>
          <a:xfrm flipH="1"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D6B1F77-2CE0-4C87-9684-82D5F5273EDD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635DF2-E536-4663-8FBE-B71BCCC7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63508" y="9510384"/>
            <a:ext cx="685800" cy="387350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13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0339D6C-12E5-47BC-9DB1-99E214577DF2}"/>
              </a:ext>
            </a:extLst>
          </p:cNvPr>
          <p:cNvSpPr txBox="1"/>
          <p:nvPr/>
        </p:nvSpPr>
        <p:spPr>
          <a:xfrm>
            <a:off x="-15240" y="353378"/>
            <a:ext cx="182880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ru-RU" sz="5600" b="1" spc="-112" dirty="0">
                <a:solidFill>
                  <a:srgbClr val="303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Физическая модель базы данных</a:t>
            </a:r>
            <a:endParaRPr lang="en-US" sz="5600" b="1" spc="-112" dirty="0">
              <a:solidFill>
                <a:srgbClr val="303233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A97440-3B19-4AC7-BB78-51817EE46FA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18"/>
          <a:stretch/>
        </p:blipFill>
        <p:spPr bwMode="auto">
          <a:xfrm>
            <a:off x="2268358" y="1333500"/>
            <a:ext cx="13886042" cy="81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281D95-54A7-460A-A433-AEEE228AA2FF}"/>
              </a:ext>
            </a:extLst>
          </p:cNvPr>
          <p:cNvSpPr txBox="1"/>
          <p:nvPr/>
        </p:nvSpPr>
        <p:spPr>
          <a:xfrm>
            <a:off x="5501118" y="9486900"/>
            <a:ext cx="867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pc="220" dirty="0">
                <a:latin typeface="Montserrat" panose="020B0604020202020204" charset="-52"/>
              </a:rPr>
              <a:t>Рисунок 9 – Физическая модель базы данных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4385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624797" y="-6822722"/>
            <a:ext cx="1088513" cy="18288000"/>
            <a:chOff x="0" y="0"/>
            <a:chExt cx="286687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2805344-2D0E-4D23-848D-128EDCA54B8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26" y="2552138"/>
            <a:ext cx="8694708" cy="5306564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EDFB6D2F-C84A-4A11-B5D6-8D4DF867C463}"/>
              </a:ext>
            </a:extLst>
          </p:cNvPr>
          <p:cNvSpPr txBox="1"/>
          <p:nvPr/>
        </p:nvSpPr>
        <p:spPr>
          <a:xfrm>
            <a:off x="-275532" y="8226504"/>
            <a:ext cx="925662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10 – Интерфейс начальной страницы пользователя</a:t>
            </a:r>
          </a:p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 с полными правами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3B00638C-555B-4EC8-AE03-3A1F08E4E986}"/>
              </a:ext>
            </a:extLst>
          </p:cNvPr>
          <p:cNvGrpSpPr/>
          <p:nvPr/>
        </p:nvGrpSpPr>
        <p:grpSpPr>
          <a:xfrm>
            <a:off x="0" y="0"/>
            <a:ext cx="18288000" cy="1861585"/>
            <a:chOff x="0" y="0"/>
            <a:chExt cx="4816593" cy="812800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1F637E70-D4B7-4515-A18D-0AB0813F0CB0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475DD1C3-02D7-4903-A928-845C7884483C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0" name="Freeform 6">
            <a:extLst>
              <a:ext uri="{FF2B5EF4-FFF2-40B4-BE49-F238E27FC236}">
                <a16:creationId xmlns:a16="http://schemas.microsoft.com/office/drawing/2014/main" id="{2679C954-B426-445F-B2FA-31355A0C87C4}"/>
              </a:ext>
            </a:extLst>
          </p:cNvPr>
          <p:cNvSpPr/>
          <p:nvPr/>
        </p:nvSpPr>
        <p:spPr>
          <a:xfrm>
            <a:off x="14808226" y="-3483723"/>
            <a:ext cx="6015558" cy="617268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7902823-DDDF-4054-9F2D-7F6DE5242CD8}"/>
              </a:ext>
            </a:extLst>
          </p:cNvPr>
          <p:cNvSpPr/>
          <p:nvPr/>
        </p:nvSpPr>
        <p:spPr>
          <a:xfrm>
            <a:off x="-3124200" y="-502360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838200" y="6674"/>
            <a:ext cx="20047131" cy="1555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ru-RU" sz="6000" b="1" spc="79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Интерфейс программного средства</a:t>
            </a:r>
            <a:endParaRPr lang="en-US" sz="6000" b="1" spc="79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39730BE-7242-44B4-99F3-898EBF158DF3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Номер слайда 31">
            <a:extLst>
              <a:ext uri="{FF2B5EF4-FFF2-40B4-BE49-F238E27FC236}">
                <a16:creationId xmlns:a16="http://schemas.microsoft.com/office/drawing/2014/main" id="{6BCC12D9-6575-43BE-9628-C940EBD7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7280670" y="9409221"/>
            <a:ext cx="672550" cy="589676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14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72CF5-433D-468A-8200-0BE8A8AED67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888833" y="2559758"/>
            <a:ext cx="8942412" cy="53065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48685B03-4810-42A6-9070-45B1578504B4}"/>
              </a:ext>
            </a:extLst>
          </p:cNvPr>
          <p:cNvSpPr txBox="1"/>
          <p:nvPr/>
        </p:nvSpPr>
        <p:spPr>
          <a:xfrm>
            <a:off x="9065881" y="8205251"/>
            <a:ext cx="875012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11 – Интерфейс начальной страницы пользователя с ограниченными правами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4466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71A0321-8922-4E23-AE41-BCE5AD8FF5DC}"/>
              </a:ext>
            </a:extLst>
          </p:cNvPr>
          <p:cNvSpPr/>
          <p:nvPr/>
        </p:nvSpPr>
        <p:spPr>
          <a:xfrm rot="1367843">
            <a:off x="-2501310" y="7354374"/>
            <a:ext cx="5330557" cy="5469788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DA3F121-95BB-4829-88BD-DA3357023249}"/>
              </a:ext>
            </a:extLst>
          </p:cNvPr>
          <p:cNvSpPr/>
          <p:nvPr/>
        </p:nvSpPr>
        <p:spPr>
          <a:xfrm>
            <a:off x="14859000" y="-1562100"/>
            <a:ext cx="5330557" cy="5469788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16CD462-E8B5-43CA-88C2-32420F4BAF7F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E36E6E0A-2B3D-470F-8086-F4BAB0D2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01608" y="9457583"/>
            <a:ext cx="609600" cy="487034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15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446F4C-87B0-4CD4-B29E-7E70841902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547" b="32170"/>
          <a:stretch/>
        </p:blipFill>
        <p:spPr>
          <a:xfrm>
            <a:off x="623328" y="1383263"/>
            <a:ext cx="8952894" cy="424805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690517-7792-4B1B-B180-A76938731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96" b="96596" l="5102" r="90000">
                        <a14:foregroundMark x1="28980" y1="50000" x2="28367" y2="39362"/>
                        <a14:foregroundMark x1="28367" y1="39362" x2="42857" y2="23191"/>
                        <a14:foregroundMark x1="42857" y1="23191" x2="54490" y2="16809"/>
                        <a14:foregroundMark x1="54490" y1="16809" x2="65306" y2="24468"/>
                        <a14:foregroundMark x1="65306" y1="24468" x2="61633" y2="43936"/>
                        <a14:foregroundMark x1="61633" y1="43936" x2="57959" y2="51383"/>
                        <a14:foregroundMark x1="15918" y1="5000" x2="50816" y2="6809"/>
                        <a14:foregroundMark x1="50816" y1="6809" x2="64490" y2="12128"/>
                        <a14:foregroundMark x1="64490" y1="12128" x2="70000" y2="19894"/>
                        <a14:foregroundMark x1="70000" y1="19894" x2="69592" y2="23617"/>
                        <a14:foregroundMark x1="35102" y1="8723" x2="25102" y2="19362"/>
                        <a14:foregroundMark x1="25102" y1="19362" x2="24286" y2="26277"/>
                        <a14:foregroundMark x1="24286" y1="26277" x2="36327" y2="46064"/>
                        <a14:foregroundMark x1="36327" y1="46064" x2="52449" y2="51170"/>
                        <a14:foregroundMark x1="52449" y1="51170" x2="67347" y2="48830"/>
                        <a14:foregroundMark x1="67347" y1="48830" x2="77143" y2="32340"/>
                        <a14:foregroundMark x1="77143" y1="32340" x2="69796" y2="15000"/>
                        <a14:foregroundMark x1="69796" y1="15000" x2="58571" y2="10106"/>
                        <a14:foregroundMark x1="58571" y1="10106" x2="29796" y2="8830"/>
                        <a14:foregroundMark x1="29796" y1="8830" x2="31429" y2="10106"/>
                        <a14:foregroundMark x1="33673" y1="34574" x2="52449" y2="34681"/>
                        <a14:foregroundMark x1="52449" y1="34681" x2="63673" y2="43723"/>
                        <a14:foregroundMark x1="63673" y1="43723" x2="63265" y2="74149"/>
                        <a14:foregroundMark x1="63265" y1="74149" x2="50408" y2="74574"/>
                        <a14:foregroundMark x1="50408" y1="74574" x2="33265" y2="55745"/>
                        <a14:foregroundMark x1="33265" y1="55745" x2="30204" y2="48191"/>
                        <a14:foregroundMark x1="30204" y1="48191" x2="36327" y2="30532"/>
                        <a14:foregroundMark x1="9592" y1="5213" x2="17143" y2="96596"/>
                        <a14:foregroundMark x1="17143" y1="96596" x2="27551" y2="92128"/>
                        <a14:foregroundMark x1="27551" y1="92128" x2="22449" y2="82660"/>
                        <a14:foregroundMark x1="22449" y1="82660" x2="29796" y2="88830"/>
                        <a14:foregroundMark x1="29796" y1="88830" x2="45306" y2="90000"/>
                        <a14:foregroundMark x1="45306" y1="90000" x2="60408" y2="89468"/>
                        <a14:foregroundMark x1="60408" y1="89468" x2="68571" y2="79468"/>
                        <a14:foregroundMark x1="68571" y1="79468" x2="61633" y2="49468"/>
                        <a14:foregroundMark x1="61633" y1="49468" x2="65918" y2="63404"/>
                        <a14:foregroundMark x1="31020" y1="92128" x2="76735" y2="94574"/>
                        <a14:foregroundMark x1="76735" y1="94574" x2="84898" y2="88191"/>
                        <a14:foregroundMark x1="84898" y1="88191" x2="82449" y2="12340"/>
                        <a14:foregroundMark x1="82449" y1="12340" x2="71020" y2="8617"/>
                        <a14:foregroundMark x1="71020" y1="8617" x2="53469" y2="7979"/>
                        <a14:foregroundMark x1="15306" y1="3617" x2="30204" y2="3617"/>
                        <a14:foregroundMark x1="30204" y1="3617" x2="43878" y2="3617"/>
                        <a14:foregroundMark x1="43878" y1="3617" x2="71837" y2="5106"/>
                        <a14:foregroundMark x1="71837" y1="5106" x2="81020" y2="11383"/>
                        <a14:foregroundMark x1="81020" y1="11383" x2="81020" y2="13085"/>
                        <a14:foregroundMark x1="81020" y1="13085" x2="41837" y2="7021"/>
                        <a14:foregroundMark x1="41837" y1="7021" x2="28980" y2="7128"/>
                        <a14:foregroundMark x1="28980" y1="7128" x2="20204" y2="13936"/>
                        <a14:foregroundMark x1="20204" y1="13936" x2="15102" y2="29362"/>
                        <a14:foregroundMark x1="15102" y1="29362" x2="20816" y2="52660"/>
                        <a14:foregroundMark x1="20816" y1="52660" x2="29388" y2="61277"/>
                        <a14:foregroundMark x1="29388" y1="61277" x2="44490" y2="63617"/>
                        <a14:foregroundMark x1="44490" y1="63617" x2="68980" y2="47128"/>
                        <a14:foregroundMark x1="68980" y1="47128" x2="75918" y2="31277"/>
                        <a14:foregroundMark x1="75918" y1="31277" x2="72449" y2="15532"/>
                        <a14:foregroundMark x1="72449" y1="15532" x2="64694" y2="10106"/>
                        <a14:foregroundMark x1="28367" y1="9468" x2="23469" y2="16383"/>
                        <a14:foregroundMark x1="23469" y1="16383" x2="24898" y2="41064"/>
                        <a14:foregroundMark x1="24898" y1="41064" x2="33265" y2="48617"/>
                        <a14:foregroundMark x1="33265" y1="48617" x2="49388" y2="48511"/>
                        <a14:foregroundMark x1="49388" y1="48511" x2="62245" y2="42447"/>
                        <a14:foregroundMark x1="62245" y1="42447" x2="72653" y2="24894"/>
                        <a14:foregroundMark x1="72653" y1="24894" x2="72857" y2="10745"/>
                        <a14:foregroundMark x1="72857" y1="10745" x2="60408" y2="6277"/>
                        <a14:foregroundMark x1="60408" y1="6277" x2="47347" y2="5851"/>
                        <a14:foregroundMark x1="47347" y1="5851" x2="35306" y2="8085"/>
                        <a14:foregroundMark x1="35306" y1="8085" x2="24082" y2="12234"/>
                        <a14:foregroundMark x1="31020" y1="12766" x2="44490" y2="9787"/>
                        <a14:foregroundMark x1="44490" y1="9787" x2="58367" y2="11170"/>
                        <a14:foregroundMark x1="58367" y1="11170" x2="54694" y2="29043"/>
                        <a14:foregroundMark x1="54694" y1="29043" x2="48980" y2="37553"/>
                        <a14:foregroundMark x1="48980" y1="37553" x2="34490" y2="33191"/>
                        <a14:foregroundMark x1="34490" y1="33191" x2="26735" y2="16489"/>
                        <a14:foregroundMark x1="26735" y1="16489" x2="32653" y2="8404"/>
                        <a14:foregroundMark x1="32653" y1="8404" x2="37347" y2="6277"/>
                        <a14:foregroundMark x1="34490" y1="8511" x2="65510" y2="9894"/>
                        <a14:foregroundMark x1="65510" y1="9894" x2="77347" y2="16489"/>
                        <a14:foregroundMark x1="77347" y1="16489" x2="69184" y2="23723"/>
                        <a14:foregroundMark x1="69184" y1="23723" x2="44490" y2="27021"/>
                        <a14:foregroundMark x1="44490" y1="27021" x2="31429" y2="25319"/>
                        <a14:foregroundMark x1="31429" y1="25319" x2="29388" y2="18511"/>
                        <a14:foregroundMark x1="29388" y1="18511" x2="37347" y2="8936"/>
                        <a14:foregroundMark x1="38163" y1="14149" x2="52245" y2="17979"/>
                        <a14:foregroundMark x1="52245" y1="17979" x2="37959" y2="19681"/>
                        <a14:foregroundMark x1="37959" y1="19681" x2="37551" y2="12447"/>
                        <a14:foregroundMark x1="37551" y1="12447" x2="39796" y2="12340"/>
                        <a14:foregroundMark x1="32041" y1="33191" x2="48776" y2="36915"/>
                        <a14:foregroundMark x1="48776" y1="36915" x2="60000" y2="42234"/>
                        <a14:foregroundMark x1="60000" y1="42234" x2="60204" y2="50106"/>
                        <a14:foregroundMark x1="60204" y1="50106" x2="47143" y2="45000"/>
                        <a14:foregroundMark x1="47143" y1="45000" x2="40204" y2="32021"/>
                        <a14:foregroundMark x1="55306" y1="49149" x2="55102" y2="56489"/>
                        <a14:foregroundMark x1="55102" y1="56489" x2="42449" y2="60213"/>
                        <a14:foregroundMark x1="42449" y1="60213" x2="33061" y2="55213"/>
                        <a14:foregroundMark x1="33061" y1="55213" x2="29796" y2="46596"/>
                        <a14:foregroundMark x1="29796" y1="46596" x2="41837" y2="44149"/>
                        <a14:foregroundMark x1="41837" y1="44149" x2="48776" y2="50000"/>
                        <a14:foregroundMark x1="48776" y1="50000" x2="50816" y2="51064"/>
                        <a14:foregroundMark x1="37143" y1="48936" x2="52653" y2="51383"/>
                        <a14:foregroundMark x1="52653" y1="51383" x2="62245" y2="58085"/>
                        <a14:foregroundMark x1="62245" y1="58085" x2="60612" y2="64681"/>
                        <a14:foregroundMark x1="60612" y1="64681" x2="45306" y2="61064"/>
                        <a14:foregroundMark x1="45306" y1="61064" x2="37755" y2="54149"/>
                        <a14:foregroundMark x1="37755" y1="54149" x2="38367" y2="48191"/>
                        <a14:foregroundMark x1="38367" y1="48191" x2="46122" y2="41596"/>
                        <a14:foregroundMark x1="46122" y1="41596" x2="56735" y2="37660"/>
                        <a14:foregroundMark x1="56735" y1="37660" x2="69592" y2="37660"/>
                        <a14:foregroundMark x1="69592" y1="37660" x2="77551" y2="43511"/>
                        <a14:foregroundMark x1="77551" y1="43511" x2="80204" y2="59468"/>
                        <a14:foregroundMark x1="80204" y1="59468" x2="64490" y2="55745"/>
                        <a14:foregroundMark x1="64490" y1="55745" x2="57551" y2="35000"/>
                        <a14:foregroundMark x1="71224" y1="54043" x2="77551" y2="60426"/>
                        <a14:foregroundMark x1="77551" y1="60426" x2="78163" y2="82128"/>
                        <a14:foregroundMark x1="78163" y1="82128" x2="61020" y2="74574"/>
                        <a14:foregroundMark x1="61020" y1="74574" x2="57143" y2="68191"/>
                        <a14:foregroundMark x1="57143" y1="68191" x2="58571" y2="61383"/>
                        <a14:foregroundMark x1="58571" y1="61383" x2="67551" y2="55532"/>
                        <a14:foregroundMark x1="67551" y1="55532" x2="73061" y2="53617"/>
                        <a14:foregroundMark x1="67347" y1="78191" x2="57551" y2="83936"/>
                        <a14:foregroundMark x1="57551" y1="83936" x2="42857" y2="77660"/>
                        <a14:foregroundMark x1="42857" y1="77660" x2="40612" y2="69787"/>
                        <a14:foregroundMark x1="40612" y1="69787" x2="53673" y2="68511"/>
                        <a14:foregroundMark x1="53673" y1="68511" x2="56122" y2="71170"/>
                        <a14:foregroundMark x1="62653" y1="87447" x2="45102" y2="88511"/>
                        <a14:foregroundMark x1="45102" y1="88511" x2="32449" y2="81596"/>
                        <a14:foregroundMark x1="32449" y1="81596" x2="27347" y2="65532"/>
                        <a14:foregroundMark x1="27347" y1="65532" x2="40408" y2="67766"/>
                        <a14:foregroundMark x1="40408" y1="67766" x2="42041" y2="70638"/>
                        <a14:foregroundMark x1="25714" y1="82872" x2="22245" y2="75851"/>
                        <a14:foregroundMark x1="22245" y1="75851" x2="24082" y2="71489"/>
                        <a14:foregroundMark x1="10000" y1="40745" x2="14286" y2="88617"/>
                        <a14:foregroundMark x1="11224" y1="75532" x2="7959" y2="82660"/>
                        <a14:foregroundMark x1="7959" y1="82660" x2="8470" y2="87447"/>
                        <a14:foregroundMark x1="9033" y1="90407" x2="19592" y2="94043"/>
                        <a14:foregroundMark x1="12857" y1="2234" x2="27551" y2="2447"/>
                        <a14:foregroundMark x1="28776" y1="2766" x2="39184" y2="2766"/>
                        <a14:foregroundMark x1="27959" y1="2234" x2="41020" y2="2128"/>
                        <a14:foregroundMark x1="41020" y1="2128" x2="51988" y2="2262"/>
                        <a14:foregroundMark x1="50000" y1="2021" x2="52347" y2="1960"/>
                        <a14:foregroundMark x1="18367" y1="96170" x2="27347" y2="96277"/>
                        <a14:foregroundMark x1="24286" y1="96383" x2="25510" y2="96383"/>
                        <a14:foregroundMark x1="27959" y1="96489" x2="32041" y2="96383"/>
                        <a14:foregroundMark x1="32857" y1="96383" x2="36939" y2="96277"/>
                        <a14:foregroundMark x1="38367" y1="96277" x2="42449" y2="96170"/>
                        <a14:foregroundMark x1="39796" y1="96383" x2="52653" y2="96170"/>
                        <a14:foregroundMark x1="52653" y1="96170" x2="56531" y2="96277"/>
                        <a14:foregroundMark x1="46531" y1="96489" x2="54898" y2="96170"/>
                        <a14:foregroundMark x1="56939" y1="96383" x2="65714" y2="96277"/>
                        <a14:foregroundMark x1="66531" y1="96489" x2="75510" y2="96277"/>
                        <a14:foregroundMark x1="75918" y1="96489" x2="86122" y2="95532"/>
                        <a14:foregroundMark x1="77551" y1="96383" x2="85714" y2="95745"/>
                        <a14:foregroundMark x1="85918" y1="95957" x2="85918" y2="95957"/>
                        <a14:foregroundMark x1="85918" y1="95957" x2="89592" y2="91809"/>
                        <a14:foregroundMark x1="89592" y1="91915" x2="86327" y2="95851"/>
                        <a14:foregroundMark x1="88367" y1="94681" x2="89796" y2="92234"/>
                        <a14:foregroundMark x1="61483" y1="2005" x2="65102" y2="1915"/>
                        <a14:foregroundMark x1="52245" y1="2234" x2="55727" y2="2148"/>
                        <a14:foregroundMark x1="65102" y1="1915" x2="78163" y2="2021"/>
                        <a14:foregroundMark x1="78163" y1="2021" x2="78980" y2="2128"/>
                        <a14:foregroundMark x1="81786" y1="2867" x2="89796" y2="6277"/>
                        <a14:foregroundMark x1="79796" y1="2021" x2="80040" y2="2125"/>
                        <a14:foregroundMark x1="89796" y1="6277" x2="90204" y2="38191"/>
                        <a14:foregroundMark x1="89388" y1="5745" x2="82009" y2="2684"/>
                        <a14:foregroundMark x1="12041" y1="2128" x2="5918" y2="7979"/>
                        <a14:foregroundMark x1="5918" y1="7979" x2="5714" y2="37660"/>
                        <a14:foregroundMark x1="5467" y1="61568" x2="5465" y2="61799"/>
                        <a14:foregroundMark x1="5583" y1="50211" x2="5548" y2="53624"/>
                        <a14:foregroundMark x1="5714" y1="37340" x2="5583" y2="50132"/>
                        <a14:foregroundMark x1="5489" y1="91277" x2="13878" y2="96170"/>
                        <a14:foregroundMark x1="13878" y1="96170" x2="16939" y2="96596"/>
                        <a14:foregroundMark x1="89184" y1="37766" x2="89388" y2="39255"/>
                        <a14:foregroundMark x1="90000" y1="38617" x2="90000" y2="39362"/>
                        <a14:foregroundMark x1="90000" y1="39362" x2="89796" y2="40213"/>
                        <a14:foregroundMark x1="6122" y1="92553" x2="13469" y2="96277"/>
                        <a14:foregroundMark x1="13265" y1="96064" x2="6327" y2="93191"/>
                        <a14:foregroundMark x1="6327" y1="93191" x2="6531" y2="93723"/>
                        <a14:foregroundMark x1="5918" y1="90745" x2="5918" y2="90638"/>
                        <a14:foregroundMark x1="5918" y1="90426" x2="5918" y2="89894"/>
                        <a14:foregroundMark x1="5918" y1="89681" x2="6122" y2="86383"/>
                        <a14:foregroundMark x1="6939" y1="52979" x2="6327" y2="57766"/>
                        <a14:foregroundMark x1="5918" y1="53617" x2="6122" y2="71383"/>
                        <a14:backgroundMark x1="84168" y1="1000" x2="90612" y2="745"/>
                        <a14:backgroundMark x1="81420" y1="1108" x2="81804" y2="1093"/>
                        <a14:backgroundMark x1="90612" y1="745" x2="93061" y2="1064"/>
                        <a14:backgroundMark x1="1955" y1="71396" x2="3061" y2="87553"/>
                        <a14:backgroundMark x1="1633" y1="66702" x2="1750" y2="68405"/>
                        <a14:backgroundMark x1="56531" y1="1489" x2="60408" y2="1489"/>
                        <a14:backgroundMark x1="60204" y1="1596" x2="60816" y2="1489"/>
                        <a14:backgroundMark x1="60816" y1="1489" x2="62041" y2="1596"/>
                        <a14:backgroundMark x1="80816" y1="1489" x2="83061" y2="1489"/>
                        <a14:backgroundMark x1="83061" y1="1489" x2="83469" y2="1489"/>
                        <a14:backgroundMark x1="4694" y1="88741" x2="4694" y2="91277"/>
                        <a14:backgroundMark x1="4694" y1="87447" x2="4694" y2="88634"/>
                        <a14:backgroundMark x1="3469" y1="52872" x2="4286" y2="520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6766" y="1264456"/>
            <a:ext cx="4497768" cy="862837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B85C45-8651-4AB3-9C02-97B4CED8991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31513"/>
          <a:stretch/>
        </p:blipFill>
        <p:spPr>
          <a:xfrm>
            <a:off x="647448" y="6258442"/>
            <a:ext cx="8838199" cy="3581913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738AF26F-4A03-473E-BEF0-74C30EC3F3AC}"/>
              </a:ext>
            </a:extLst>
          </p:cNvPr>
          <p:cNvSpPr txBox="1"/>
          <p:nvPr/>
        </p:nvSpPr>
        <p:spPr>
          <a:xfrm>
            <a:off x="1716581" y="5757976"/>
            <a:ext cx="74274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12 – Форма документа Задания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5DCD67C-5452-4146-906A-BE368BC0E327}"/>
              </a:ext>
            </a:extLst>
          </p:cNvPr>
          <p:cNvSpPr txBox="1"/>
          <p:nvPr/>
        </p:nvSpPr>
        <p:spPr>
          <a:xfrm>
            <a:off x="1716581" y="9892827"/>
            <a:ext cx="742741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13 – Форма справочника Сотрудники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D3450C4-4386-48CF-A55E-0F9E3C2E233D}"/>
              </a:ext>
            </a:extLst>
          </p:cNvPr>
          <p:cNvSpPr txBox="1"/>
          <p:nvPr/>
        </p:nvSpPr>
        <p:spPr>
          <a:xfrm>
            <a:off x="9785590" y="9667855"/>
            <a:ext cx="663645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</a:t>
            </a:r>
            <a:r>
              <a:rPr lang="en-US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1</a:t>
            </a:r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4 – Интерфейс отправки сообщений через </a:t>
            </a:r>
            <a:r>
              <a:rPr lang="en-US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Telegram-bot</a:t>
            </a: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752DE46F-FE67-4087-BC5E-07770D9C834B}"/>
              </a:ext>
            </a:extLst>
          </p:cNvPr>
          <p:cNvGrpSpPr/>
          <p:nvPr/>
        </p:nvGrpSpPr>
        <p:grpSpPr>
          <a:xfrm>
            <a:off x="0" y="0"/>
            <a:ext cx="18288000" cy="1266023"/>
            <a:chOff x="0" y="0"/>
            <a:chExt cx="4816593" cy="812800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C561AA6-0BAF-4F8D-ABEF-B493498DFE7A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FCDCBA68-E725-4FDF-AE25-5D872FBF03A7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2" name="Freeform 6">
            <a:extLst>
              <a:ext uri="{FF2B5EF4-FFF2-40B4-BE49-F238E27FC236}">
                <a16:creationId xmlns:a16="http://schemas.microsoft.com/office/drawing/2014/main" id="{1BC3DCF8-FE0A-4925-B8C7-680D2415DB6C}"/>
              </a:ext>
            </a:extLst>
          </p:cNvPr>
          <p:cNvSpPr/>
          <p:nvPr/>
        </p:nvSpPr>
        <p:spPr>
          <a:xfrm>
            <a:off x="14808226" y="-3483723"/>
            <a:ext cx="6015558" cy="617268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F55BB9DC-AED5-4D98-95A4-5664165CC797}"/>
              </a:ext>
            </a:extLst>
          </p:cNvPr>
          <p:cNvSpPr/>
          <p:nvPr/>
        </p:nvSpPr>
        <p:spPr>
          <a:xfrm>
            <a:off x="-3124200" y="-502360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2B84B014-EC43-4970-8AC0-F13A1159E1A2}"/>
              </a:ext>
            </a:extLst>
          </p:cNvPr>
          <p:cNvSpPr txBox="1"/>
          <p:nvPr/>
        </p:nvSpPr>
        <p:spPr>
          <a:xfrm>
            <a:off x="-879568" y="-435330"/>
            <a:ext cx="20047131" cy="1555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ru-RU" sz="5400" b="1" spc="79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Интерфейс программного средства</a:t>
            </a:r>
            <a:endParaRPr lang="en-US" sz="5400" b="1" spc="79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2709376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427C5E09-1311-41AA-8D0C-1F36EBA7CE68}"/>
              </a:ext>
            </a:extLst>
          </p:cNvPr>
          <p:cNvSpPr/>
          <p:nvPr/>
        </p:nvSpPr>
        <p:spPr>
          <a:xfrm flipH="1" flipV="1">
            <a:off x="0" y="4466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02A4DC-EF9E-4202-A0C6-07234CA2C0C7}"/>
              </a:ext>
            </a:extLst>
          </p:cNvPr>
          <p:cNvGrpSpPr/>
          <p:nvPr/>
        </p:nvGrpSpPr>
        <p:grpSpPr>
          <a:xfrm>
            <a:off x="0" y="0"/>
            <a:ext cx="18288000" cy="1266023"/>
            <a:chOff x="0" y="0"/>
            <a:chExt cx="4816593" cy="8128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1F986AE-961D-48AB-AF42-527755F8D2AF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B6A956-AF08-4FC2-9DB6-977BDB31B341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1F3190E4-BC71-42C5-A32B-ED07311AE771}"/>
              </a:ext>
            </a:extLst>
          </p:cNvPr>
          <p:cNvSpPr/>
          <p:nvPr/>
        </p:nvSpPr>
        <p:spPr>
          <a:xfrm>
            <a:off x="14808226" y="-3483723"/>
            <a:ext cx="6015558" cy="617268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857187D-2A7C-45C7-9E31-CF9BAB25B706}"/>
              </a:ext>
            </a:extLst>
          </p:cNvPr>
          <p:cNvSpPr/>
          <p:nvPr/>
        </p:nvSpPr>
        <p:spPr>
          <a:xfrm>
            <a:off x="-3124200" y="-502360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51D2311-EF26-4F97-B4C1-C64B0E5700C8}"/>
              </a:ext>
            </a:extLst>
          </p:cNvPr>
          <p:cNvSpPr txBox="1"/>
          <p:nvPr/>
        </p:nvSpPr>
        <p:spPr>
          <a:xfrm>
            <a:off x="-879568" y="-435330"/>
            <a:ext cx="20047131" cy="1555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ru-RU" sz="5400" b="1" spc="79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Интерфейс программного средства</a:t>
            </a:r>
            <a:endParaRPr lang="en-US" sz="5400" b="1" spc="79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D203A38-E9C7-433D-BEC9-07900F410B40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0444BA0-FF40-460B-B3A6-7FE232EA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49208" y="9472284"/>
            <a:ext cx="914400" cy="463550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16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6122892-F6F7-4C55-98E8-4710288BAF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627"/>
          <a:stretch/>
        </p:blipFill>
        <p:spPr>
          <a:xfrm>
            <a:off x="76200" y="3102836"/>
            <a:ext cx="9316246" cy="361428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EE351D9-10C2-4D74-A854-979924636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46" y="2414342"/>
            <a:ext cx="8769113" cy="5206661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2AF45EF3-B8D8-4D7C-90BD-79957034FF93}"/>
              </a:ext>
            </a:extLst>
          </p:cNvPr>
          <p:cNvSpPr txBox="1"/>
          <p:nvPr/>
        </p:nvSpPr>
        <p:spPr>
          <a:xfrm>
            <a:off x="1020615" y="6740695"/>
            <a:ext cx="74274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</a:t>
            </a:r>
            <a:r>
              <a:rPr lang="en-US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5</a:t>
            </a:r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 – Форма документа Списки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AFFA63A-0E33-40FE-A8EA-C7F4398E2B72}"/>
              </a:ext>
            </a:extLst>
          </p:cNvPr>
          <p:cNvSpPr txBox="1"/>
          <p:nvPr/>
        </p:nvSpPr>
        <p:spPr>
          <a:xfrm>
            <a:off x="9880725" y="7774436"/>
            <a:ext cx="815052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16 – Форма отчета о текущих задачах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3645663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FC25975-885A-4ADA-92F6-B960263FA326}"/>
              </a:ext>
            </a:extLst>
          </p:cNvPr>
          <p:cNvSpPr/>
          <p:nvPr/>
        </p:nvSpPr>
        <p:spPr>
          <a:xfrm flipH="1" flipV="1">
            <a:off x="0" y="4466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6AEDF420-F5B7-4FC5-8B63-35AF5F0D91D1}"/>
              </a:ext>
            </a:extLst>
          </p:cNvPr>
          <p:cNvGrpSpPr/>
          <p:nvPr/>
        </p:nvGrpSpPr>
        <p:grpSpPr>
          <a:xfrm>
            <a:off x="0" y="0"/>
            <a:ext cx="18288000" cy="1266023"/>
            <a:chOff x="0" y="0"/>
            <a:chExt cx="4816593" cy="812800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EE935C47-29D1-43FD-BFF4-8D2B9C82E5B2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BE1BD9-760D-4BEF-8119-A7BCD8330C5C}"/>
                </a:ext>
              </a:extLst>
            </p:cNvPr>
            <p:cNvSpPr txBox="1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6">
            <a:extLst>
              <a:ext uri="{FF2B5EF4-FFF2-40B4-BE49-F238E27FC236}">
                <a16:creationId xmlns:a16="http://schemas.microsoft.com/office/drawing/2014/main" id="{7EC9A27C-EF3B-4768-A4F2-ECEFF00A88FA}"/>
              </a:ext>
            </a:extLst>
          </p:cNvPr>
          <p:cNvSpPr/>
          <p:nvPr/>
        </p:nvSpPr>
        <p:spPr>
          <a:xfrm>
            <a:off x="14808226" y="-3483723"/>
            <a:ext cx="6015558" cy="617268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F2B890C1-3E2F-44D9-B2C6-A13C15ADED11}"/>
              </a:ext>
            </a:extLst>
          </p:cNvPr>
          <p:cNvSpPr/>
          <p:nvPr/>
        </p:nvSpPr>
        <p:spPr>
          <a:xfrm>
            <a:off x="-3124200" y="-502360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954C889-E71F-4D21-8D71-ABD9892AB5CB}"/>
              </a:ext>
            </a:extLst>
          </p:cNvPr>
          <p:cNvSpPr txBox="1"/>
          <p:nvPr/>
        </p:nvSpPr>
        <p:spPr>
          <a:xfrm>
            <a:off x="-879568" y="-435330"/>
            <a:ext cx="20047131" cy="1555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ru-RU" sz="5400" b="1" spc="79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Интерфейс программного средства</a:t>
            </a:r>
            <a:endParaRPr lang="en-US" sz="5400" b="1" spc="79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D39E403-59FE-47D5-AD28-E94427B1B54C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D023EF-4C86-4A12-AB75-EF1B1F01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9521496"/>
            <a:ext cx="7620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17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225889-2964-41CA-899F-E321CF00C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6046" y="2718630"/>
            <a:ext cx="9066551" cy="472944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DE630CA-B5A6-4E6E-91AC-B97F0903A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58" y="2808951"/>
            <a:ext cx="8752366" cy="4470226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B57AB06B-2262-462D-B6CB-78A47CDDF6C6}"/>
              </a:ext>
            </a:extLst>
          </p:cNvPr>
          <p:cNvSpPr txBox="1"/>
          <p:nvPr/>
        </p:nvSpPr>
        <p:spPr>
          <a:xfrm>
            <a:off x="421279" y="7640793"/>
            <a:ext cx="815052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17 – Форма планировщика задач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8DBE9449-A82E-4964-8CA0-6DF8A1AD89D2}"/>
              </a:ext>
            </a:extLst>
          </p:cNvPr>
          <p:cNvSpPr txBox="1"/>
          <p:nvPr/>
        </p:nvSpPr>
        <p:spPr>
          <a:xfrm>
            <a:off x="9639385" y="7650720"/>
            <a:ext cx="815052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18 – Форма справочника Должности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8655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0"/>
            <a:ext cx="18287999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013836" y="495300"/>
            <a:ext cx="19354610" cy="2258023"/>
            <a:chOff x="0" y="0"/>
            <a:chExt cx="1876002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1250" y="4652989"/>
            <a:ext cx="736150" cy="665905"/>
            <a:chOff x="0" y="0"/>
            <a:chExt cx="193883" cy="1753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4134" y="0"/>
                  </a:moveTo>
                  <a:lnTo>
                    <a:pt x="109749" y="0"/>
                  </a:lnTo>
                  <a:cubicBezTo>
                    <a:pt x="156215" y="0"/>
                    <a:pt x="193883" y="37668"/>
                    <a:pt x="193883" y="84134"/>
                  </a:cubicBezTo>
                  <a:lnTo>
                    <a:pt x="193883" y="91248"/>
                  </a:lnTo>
                  <a:cubicBezTo>
                    <a:pt x="193883" y="137714"/>
                    <a:pt x="156215" y="175382"/>
                    <a:pt x="109749" y="175382"/>
                  </a:cubicBezTo>
                  <a:lnTo>
                    <a:pt x="84134" y="175382"/>
                  </a:lnTo>
                  <a:cubicBezTo>
                    <a:pt x="37668" y="175382"/>
                    <a:pt x="0" y="137714"/>
                    <a:pt x="0" y="91248"/>
                  </a:cubicBezTo>
                  <a:lnTo>
                    <a:pt x="0" y="84134"/>
                  </a:lnTo>
                  <a:cubicBezTo>
                    <a:pt x="0" y="37668"/>
                    <a:pt x="37668" y="0"/>
                    <a:pt x="84134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93883" cy="23253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25609" y="3743682"/>
            <a:ext cx="3314591" cy="3314591"/>
            <a:chOff x="0" y="0"/>
            <a:chExt cx="4872604" cy="48726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72609" cy="4872609"/>
            </a:xfrm>
            <a:custGeom>
              <a:avLst/>
              <a:gdLst/>
              <a:ahLst/>
              <a:cxnLst/>
              <a:rect l="l" t="t" r="r" b="b"/>
              <a:pathLst>
                <a:path w="4872609" h="4872609">
                  <a:moveTo>
                    <a:pt x="1061593" y="2436241"/>
                  </a:moveTo>
                  <a:cubicBezTo>
                    <a:pt x="1061593" y="1687957"/>
                    <a:pt x="1688084" y="1061466"/>
                    <a:pt x="2436368" y="1061466"/>
                  </a:cubicBezTo>
                  <a:cubicBezTo>
                    <a:pt x="3202051" y="1061466"/>
                    <a:pt x="3811143" y="1687957"/>
                    <a:pt x="3811143" y="2436241"/>
                  </a:cubicBezTo>
                  <a:cubicBezTo>
                    <a:pt x="3811143" y="3201924"/>
                    <a:pt x="3202051" y="3811016"/>
                    <a:pt x="2436368" y="3811016"/>
                  </a:cubicBezTo>
                  <a:cubicBezTo>
                    <a:pt x="2436368" y="4872609"/>
                    <a:pt x="2436368" y="4872609"/>
                    <a:pt x="2436368" y="4872609"/>
                  </a:cubicBezTo>
                  <a:cubicBezTo>
                    <a:pt x="3776345" y="4872609"/>
                    <a:pt x="4872609" y="3776218"/>
                    <a:pt x="4872609" y="2436368"/>
                  </a:cubicBezTo>
                  <a:cubicBezTo>
                    <a:pt x="4872609" y="1096518"/>
                    <a:pt x="3776218" y="0"/>
                    <a:pt x="2436241" y="0"/>
                  </a:cubicBezTo>
                  <a:cubicBezTo>
                    <a:pt x="1096264" y="0"/>
                    <a:pt x="0" y="1096391"/>
                    <a:pt x="0" y="2436241"/>
                  </a:cubicBezTo>
                  <a:lnTo>
                    <a:pt x="1061593" y="2436241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933215" y="3767100"/>
            <a:ext cx="3314591" cy="3326378"/>
            <a:chOff x="0" y="0"/>
            <a:chExt cx="4872604" cy="48899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72609" cy="4889881"/>
            </a:xfrm>
            <a:custGeom>
              <a:avLst/>
              <a:gdLst/>
              <a:ahLst/>
              <a:cxnLst/>
              <a:rect l="l" t="t" r="r" b="b"/>
              <a:pathLst>
                <a:path w="4872609" h="4889881">
                  <a:moveTo>
                    <a:pt x="3811016" y="2453640"/>
                  </a:moveTo>
                  <a:cubicBezTo>
                    <a:pt x="3811016" y="3201924"/>
                    <a:pt x="3201924" y="3828415"/>
                    <a:pt x="2436241" y="3828415"/>
                  </a:cubicBezTo>
                  <a:cubicBezTo>
                    <a:pt x="1687957" y="3828415"/>
                    <a:pt x="1061466" y="3201924"/>
                    <a:pt x="1061466" y="2453640"/>
                  </a:cubicBezTo>
                  <a:cubicBezTo>
                    <a:pt x="1061466" y="1687957"/>
                    <a:pt x="1687957" y="1078865"/>
                    <a:pt x="2436241" y="1078865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264"/>
                    <a:pt x="0" y="2453640"/>
                  </a:cubicBezTo>
                  <a:cubicBezTo>
                    <a:pt x="0" y="3793617"/>
                    <a:pt x="1096391" y="4889881"/>
                    <a:pt x="2436241" y="4889881"/>
                  </a:cubicBezTo>
                  <a:cubicBezTo>
                    <a:pt x="3776091" y="4889881"/>
                    <a:pt x="4872609" y="3793617"/>
                    <a:pt x="4872609" y="2453640"/>
                  </a:cubicBezTo>
                  <a:lnTo>
                    <a:pt x="3811016" y="2453640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3500716" y="6337440"/>
            <a:ext cx="3314591" cy="3315573"/>
            <a:chOff x="0" y="0"/>
            <a:chExt cx="4872604" cy="48740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72482" cy="4874006"/>
            </a:xfrm>
            <a:custGeom>
              <a:avLst/>
              <a:gdLst/>
              <a:ahLst/>
              <a:cxnLst/>
              <a:rect l="l" t="t" r="r" b="b"/>
              <a:pathLst>
                <a:path w="4872482" h="4874006">
                  <a:moveTo>
                    <a:pt x="3811016" y="2437003"/>
                  </a:moveTo>
                  <a:cubicBezTo>
                    <a:pt x="3811016" y="3202940"/>
                    <a:pt x="3201924" y="3812159"/>
                    <a:pt x="2436241" y="3812159"/>
                  </a:cubicBezTo>
                  <a:cubicBezTo>
                    <a:pt x="1687957" y="3812159"/>
                    <a:pt x="1061466" y="3202940"/>
                    <a:pt x="1061466" y="2437003"/>
                  </a:cubicBezTo>
                  <a:cubicBezTo>
                    <a:pt x="1061466" y="1688465"/>
                    <a:pt x="1687957" y="1061847"/>
                    <a:pt x="2436241" y="1061847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645"/>
                    <a:pt x="0" y="2437003"/>
                  </a:cubicBezTo>
                  <a:cubicBezTo>
                    <a:pt x="0" y="3777361"/>
                    <a:pt x="1096391" y="4874006"/>
                    <a:pt x="2436241" y="4874006"/>
                  </a:cubicBezTo>
                  <a:cubicBezTo>
                    <a:pt x="3776091" y="4874006"/>
                    <a:pt x="4872482" y="3777361"/>
                    <a:pt x="4872482" y="2437003"/>
                  </a:cubicBezTo>
                  <a:lnTo>
                    <a:pt x="3811016" y="2437003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830304" y="4617656"/>
            <a:ext cx="1520413" cy="152041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421667" y="7244657"/>
            <a:ext cx="1522475" cy="152247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399584" y="4617656"/>
            <a:ext cx="1566642" cy="156664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087384" y="4897605"/>
            <a:ext cx="1006253" cy="960515"/>
          </a:xfrm>
          <a:custGeom>
            <a:avLst/>
            <a:gdLst/>
            <a:ahLst/>
            <a:cxnLst/>
            <a:rect l="l" t="t" r="r" b="b"/>
            <a:pathLst>
              <a:path w="1006253" h="960515">
                <a:moveTo>
                  <a:pt x="0" y="0"/>
                </a:moveTo>
                <a:lnTo>
                  <a:pt x="1006253" y="0"/>
                </a:lnTo>
                <a:lnTo>
                  <a:pt x="1006253" y="960515"/>
                </a:lnTo>
                <a:lnTo>
                  <a:pt x="0" y="96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731450" y="4906117"/>
            <a:ext cx="902910" cy="916237"/>
          </a:xfrm>
          <a:custGeom>
            <a:avLst/>
            <a:gdLst/>
            <a:ahLst/>
            <a:cxnLst/>
            <a:rect l="l" t="t" r="r" b="b"/>
            <a:pathLst>
              <a:path w="902910" h="916237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663813" y="1192204"/>
            <a:ext cx="9308329" cy="7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48"/>
              </a:lnSpc>
              <a:spcBef>
                <a:spcPct val="0"/>
              </a:spcBef>
            </a:pPr>
            <a:r>
              <a:rPr lang="ru-RU" sz="4745" b="1" u="none" strike="noStrike" spc="37" dirty="0">
                <a:solidFill>
                  <a:srgbClr val="FFFFFF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Тестирование</a:t>
            </a:r>
            <a:endParaRPr lang="en-US" sz="4745" b="1" u="none" strike="noStrike" spc="37" dirty="0">
              <a:solidFill>
                <a:srgbClr val="FFFFFF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916860" y="2615579"/>
            <a:ext cx="5689104" cy="275488"/>
            <a:chOff x="0" y="0"/>
            <a:chExt cx="4519796" cy="21886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21250" y="5372102"/>
            <a:ext cx="736150" cy="882897"/>
            <a:chOff x="0" y="-232344"/>
            <a:chExt cx="193883" cy="232532"/>
          </a:xfrm>
        </p:grpSpPr>
        <p:sp>
          <p:nvSpPr>
            <p:cNvPr id="32" name="Freeform 32"/>
            <p:cNvSpPr/>
            <p:nvPr/>
          </p:nvSpPr>
          <p:spPr>
            <a:xfrm>
              <a:off x="0" y="-186777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4134" y="0"/>
                  </a:moveTo>
                  <a:lnTo>
                    <a:pt x="109749" y="0"/>
                  </a:lnTo>
                  <a:cubicBezTo>
                    <a:pt x="156215" y="0"/>
                    <a:pt x="193883" y="37668"/>
                    <a:pt x="193883" y="84134"/>
                  </a:cubicBezTo>
                  <a:lnTo>
                    <a:pt x="193883" y="91248"/>
                  </a:lnTo>
                  <a:cubicBezTo>
                    <a:pt x="193883" y="137714"/>
                    <a:pt x="156215" y="175382"/>
                    <a:pt x="109749" y="175382"/>
                  </a:cubicBezTo>
                  <a:lnTo>
                    <a:pt x="84134" y="175382"/>
                  </a:lnTo>
                  <a:cubicBezTo>
                    <a:pt x="37668" y="175382"/>
                    <a:pt x="0" y="137714"/>
                    <a:pt x="0" y="91248"/>
                  </a:cubicBezTo>
                  <a:lnTo>
                    <a:pt x="0" y="84134"/>
                  </a:lnTo>
                  <a:cubicBezTo>
                    <a:pt x="0" y="37668"/>
                    <a:pt x="37668" y="0"/>
                    <a:pt x="84134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32344"/>
              <a:ext cx="193883" cy="23253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21250" y="6241803"/>
            <a:ext cx="736150" cy="882897"/>
            <a:chOff x="0" y="-418392"/>
            <a:chExt cx="193883" cy="232532"/>
          </a:xfrm>
        </p:grpSpPr>
        <p:sp>
          <p:nvSpPr>
            <p:cNvPr id="36" name="Freeform 36"/>
            <p:cNvSpPr/>
            <p:nvPr/>
          </p:nvSpPr>
          <p:spPr>
            <a:xfrm>
              <a:off x="0" y="-366482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4134" y="0"/>
                  </a:moveTo>
                  <a:lnTo>
                    <a:pt x="109749" y="0"/>
                  </a:lnTo>
                  <a:cubicBezTo>
                    <a:pt x="156215" y="0"/>
                    <a:pt x="193883" y="37668"/>
                    <a:pt x="193883" y="84134"/>
                  </a:cubicBezTo>
                  <a:lnTo>
                    <a:pt x="193883" y="91248"/>
                  </a:lnTo>
                  <a:cubicBezTo>
                    <a:pt x="193883" y="137714"/>
                    <a:pt x="156215" y="175382"/>
                    <a:pt x="109749" y="175382"/>
                  </a:cubicBezTo>
                  <a:lnTo>
                    <a:pt x="84134" y="175382"/>
                  </a:lnTo>
                  <a:cubicBezTo>
                    <a:pt x="37668" y="175382"/>
                    <a:pt x="0" y="137714"/>
                    <a:pt x="0" y="91248"/>
                  </a:cubicBezTo>
                  <a:lnTo>
                    <a:pt x="0" y="84134"/>
                  </a:lnTo>
                  <a:cubicBezTo>
                    <a:pt x="0" y="37668"/>
                    <a:pt x="37668" y="0"/>
                    <a:pt x="84134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18392"/>
              <a:ext cx="193883" cy="23253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085550" y="-131220"/>
            <a:ext cx="9534019" cy="1112295"/>
            <a:chOff x="0" y="0"/>
            <a:chExt cx="1876002" cy="2188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AutoShape 42"/>
          <p:cNvSpPr/>
          <p:nvPr/>
        </p:nvSpPr>
        <p:spPr>
          <a:xfrm>
            <a:off x="-715490" y="962025"/>
            <a:ext cx="12921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Freeform 43"/>
          <p:cNvSpPr/>
          <p:nvPr/>
        </p:nvSpPr>
        <p:spPr>
          <a:xfrm>
            <a:off x="14731450" y="7532947"/>
            <a:ext cx="902910" cy="902910"/>
          </a:xfrm>
          <a:custGeom>
            <a:avLst/>
            <a:gdLst/>
            <a:ahLst/>
            <a:cxnLst/>
            <a:rect l="l" t="t" r="r" b="b"/>
            <a:pathLst>
              <a:path w="902910" h="902910">
                <a:moveTo>
                  <a:pt x="0" y="0"/>
                </a:moveTo>
                <a:lnTo>
                  <a:pt x="902910" y="0"/>
                </a:lnTo>
                <a:lnTo>
                  <a:pt x="902910" y="902910"/>
                </a:lnTo>
                <a:lnTo>
                  <a:pt x="0" y="902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D0F2E7F7-75D1-4ADF-BE6F-9D8B38725123}"/>
              </a:ext>
            </a:extLst>
          </p:cNvPr>
          <p:cNvSpPr txBox="1"/>
          <p:nvPr/>
        </p:nvSpPr>
        <p:spPr>
          <a:xfrm>
            <a:off x="739953" y="3002772"/>
            <a:ext cx="1089855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Произведено тестирование методом серого ящика, позволяющее протестировать функциональность приложения, используя информацию об архитектуре системы.</a:t>
            </a:r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5E2244AC-0AE3-4431-B3EF-0C8A94E7B828}"/>
              </a:ext>
            </a:extLst>
          </p:cNvPr>
          <p:cNvSpPr txBox="1"/>
          <p:nvPr/>
        </p:nvSpPr>
        <p:spPr>
          <a:xfrm>
            <a:off x="1321250" y="6248596"/>
            <a:ext cx="736150" cy="882897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 marL="0" lvl="0" indent="0" algn="ctr">
              <a:lnSpc>
                <a:spcPts val="4114"/>
              </a:lnSpc>
              <a:spcBef>
                <a:spcPct val="0"/>
              </a:spcBef>
            </a:pPr>
            <a:r>
              <a:rPr lang="en-US" sz="2981" b="1" spc="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id="47" name="Group 35">
            <a:extLst>
              <a:ext uri="{FF2B5EF4-FFF2-40B4-BE49-F238E27FC236}">
                <a16:creationId xmlns:a16="http://schemas.microsoft.com/office/drawing/2014/main" id="{72247413-5DE1-4AA8-83F1-6EA8CF5DDAE2}"/>
              </a:ext>
            </a:extLst>
          </p:cNvPr>
          <p:cNvGrpSpPr/>
          <p:nvPr/>
        </p:nvGrpSpPr>
        <p:grpSpPr>
          <a:xfrm>
            <a:off x="1321250" y="7124700"/>
            <a:ext cx="736150" cy="882897"/>
            <a:chOff x="0" y="-418392"/>
            <a:chExt cx="193883" cy="232532"/>
          </a:xfrm>
        </p:grpSpPr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D386328A-28F7-4B0D-B8FA-6D6751123C88}"/>
                </a:ext>
              </a:extLst>
            </p:cNvPr>
            <p:cNvSpPr/>
            <p:nvPr/>
          </p:nvSpPr>
          <p:spPr>
            <a:xfrm>
              <a:off x="0" y="-366482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4134" y="0"/>
                  </a:moveTo>
                  <a:lnTo>
                    <a:pt x="109749" y="0"/>
                  </a:lnTo>
                  <a:cubicBezTo>
                    <a:pt x="156215" y="0"/>
                    <a:pt x="193883" y="37668"/>
                    <a:pt x="193883" y="84134"/>
                  </a:cubicBezTo>
                  <a:lnTo>
                    <a:pt x="193883" y="91248"/>
                  </a:lnTo>
                  <a:cubicBezTo>
                    <a:pt x="193883" y="137714"/>
                    <a:pt x="156215" y="175382"/>
                    <a:pt x="109749" y="175382"/>
                  </a:cubicBezTo>
                  <a:lnTo>
                    <a:pt x="84134" y="175382"/>
                  </a:lnTo>
                  <a:cubicBezTo>
                    <a:pt x="37668" y="175382"/>
                    <a:pt x="0" y="137714"/>
                    <a:pt x="0" y="91248"/>
                  </a:cubicBezTo>
                  <a:lnTo>
                    <a:pt x="0" y="84134"/>
                  </a:lnTo>
                  <a:cubicBezTo>
                    <a:pt x="0" y="37668"/>
                    <a:pt x="37668" y="0"/>
                    <a:pt x="84134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TextBox 37">
              <a:extLst>
                <a:ext uri="{FF2B5EF4-FFF2-40B4-BE49-F238E27FC236}">
                  <a16:creationId xmlns:a16="http://schemas.microsoft.com/office/drawing/2014/main" id="{B6DFEE4F-A36C-4C4C-92AF-295455549341}"/>
                </a:ext>
              </a:extLst>
            </p:cNvPr>
            <p:cNvSpPr txBox="1"/>
            <p:nvPr/>
          </p:nvSpPr>
          <p:spPr>
            <a:xfrm>
              <a:off x="0" y="-418392"/>
              <a:ext cx="193883" cy="23253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51" name="Group 35">
            <a:extLst>
              <a:ext uri="{FF2B5EF4-FFF2-40B4-BE49-F238E27FC236}">
                <a16:creationId xmlns:a16="http://schemas.microsoft.com/office/drawing/2014/main" id="{D0CDE698-E585-4F6C-9DAB-4F5E0D6E2173}"/>
              </a:ext>
            </a:extLst>
          </p:cNvPr>
          <p:cNvGrpSpPr/>
          <p:nvPr/>
        </p:nvGrpSpPr>
        <p:grpSpPr>
          <a:xfrm>
            <a:off x="1321250" y="8115300"/>
            <a:ext cx="736150" cy="882897"/>
            <a:chOff x="0" y="-418392"/>
            <a:chExt cx="193883" cy="232532"/>
          </a:xfrm>
        </p:grpSpPr>
        <p:sp>
          <p:nvSpPr>
            <p:cNvPr id="52" name="Freeform 36">
              <a:extLst>
                <a:ext uri="{FF2B5EF4-FFF2-40B4-BE49-F238E27FC236}">
                  <a16:creationId xmlns:a16="http://schemas.microsoft.com/office/drawing/2014/main" id="{B6D8734C-E642-4D28-AA46-DFDBF597FC46}"/>
                </a:ext>
              </a:extLst>
            </p:cNvPr>
            <p:cNvSpPr/>
            <p:nvPr/>
          </p:nvSpPr>
          <p:spPr>
            <a:xfrm>
              <a:off x="0" y="-366482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4134" y="0"/>
                  </a:moveTo>
                  <a:lnTo>
                    <a:pt x="109749" y="0"/>
                  </a:lnTo>
                  <a:cubicBezTo>
                    <a:pt x="156215" y="0"/>
                    <a:pt x="193883" y="37668"/>
                    <a:pt x="193883" y="84134"/>
                  </a:cubicBezTo>
                  <a:lnTo>
                    <a:pt x="193883" y="91248"/>
                  </a:lnTo>
                  <a:cubicBezTo>
                    <a:pt x="193883" y="137714"/>
                    <a:pt x="156215" y="175382"/>
                    <a:pt x="109749" y="175382"/>
                  </a:cubicBezTo>
                  <a:lnTo>
                    <a:pt x="84134" y="175382"/>
                  </a:lnTo>
                  <a:cubicBezTo>
                    <a:pt x="37668" y="175382"/>
                    <a:pt x="0" y="137714"/>
                    <a:pt x="0" y="91248"/>
                  </a:cubicBezTo>
                  <a:lnTo>
                    <a:pt x="0" y="84134"/>
                  </a:lnTo>
                  <a:cubicBezTo>
                    <a:pt x="0" y="37668"/>
                    <a:pt x="37668" y="0"/>
                    <a:pt x="84134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53" name="TextBox 37">
              <a:extLst>
                <a:ext uri="{FF2B5EF4-FFF2-40B4-BE49-F238E27FC236}">
                  <a16:creationId xmlns:a16="http://schemas.microsoft.com/office/drawing/2014/main" id="{CBD07B13-6E41-4253-9862-BC859D03B8C6}"/>
                </a:ext>
              </a:extLst>
            </p:cNvPr>
            <p:cNvSpPr txBox="1"/>
            <p:nvPr/>
          </p:nvSpPr>
          <p:spPr>
            <a:xfrm>
              <a:off x="0" y="-418392"/>
              <a:ext cx="193883" cy="23253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sp>
        <p:nvSpPr>
          <p:cNvPr id="54" name="TextBox 37">
            <a:extLst>
              <a:ext uri="{FF2B5EF4-FFF2-40B4-BE49-F238E27FC236}">
                <a16:creationId xmlns:a16="http://schemas.microsoft.com/office/drawing/2014/main" id="{D55A9CA9-4916-42FA-8C87-381E342156F2}"/>
              </a:ext>
            </a:extLst>
          </p:cNvPr>
          <p:cNvSpPr txBox="1"/>
          <p:nvPr/>
        </p:nvSpPr>
        <p:spPr>
          <a:xfrm>
            <a:off x="1321250" y="8122093"/>
            <a:ext cx="736150" cy="882897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 marL="0" lvl="0" indent="0" algn="ctr">
              <a:lnSpc>
                <a:spcPts val="4114"/>
              </a:lnSpc>
              <a:spcBef>
                <a:spcPct val="0"/>
              </a:spcBef>
            </a:pPr>
            <a:endParaRPr lang="en-US" sz="2981" b="1" spc="29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D7808314-CCF6-4DE8-921D-9B36DE98D728}"/>
              </a:ext>
            </a:extLst>
          </p:cNvPr>
          <p:cNvSpPr txBox="1"/>
          <p:nvPr/>
        </p:nvSpPr>
        <p:spPr>
          <a:xfrm>
            <a:off x="2242393" y="4709706"/>
            <a:ext cx="400183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Создание новой задачи.</a:t>
            </a:r>
          </a:p>
        </p:txBody>
      </p:sp>
      <p:sp>
        <p:nvSpPr>
          <p:cNvPr id="56" name="TextBox 9">
            <a:extLst>
              <a:ext uri="{FF2B5EF4-FFF2-40B4-BE49-F238E27FC236}">
                <a16:creationId xmlns:a16="http://schemas.microsoft.com/office/drawing/2014/main" id="{12E2512C-4EE3-4BAD-BC56-1DA314DFE588}"/>
              </a:ext>
            </a:extLst>
          </p:cNvPr>
          <p:cNvSpPr txBox="1"/>
          <p:nvPr/>
        </p:nvSpPr>
        <p:spPr>
          <a:xfrm>
            <a:off x="2254424" y="5448300"/>
            <a:ext cx="772678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Отображение прикрепленного файла в регистре.</a:t>
            </a:r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E8613788-EE7B-4CBE-B861-06B86E26794B}"/>
              </a:ext>
            </a:extLst>
          </p:cNvPr>
          <p:cNvSpPr txBox="1"/>
          <p:nvPr/>
        </p:nvSpPr>
        <p:spPr>
          <a:xfrm>
            <a:off x="2228690" y="6438900"/>
            <a:ext cx="772678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Изменение цвета карточки, после изменения приоритетности.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60454B09-78BF-413A-A36C-88AEE281897B}"/>
              </a:ext>
            </a:extLst>
          </p:cNvPr>
          <p:cNvSpPr txBox="1"/>
          <p:nvPr/>
        </p:nvSpPr>
        <p:spPr>
          <a:xfrm>
            <a:off x="2254424" y="7441168"/>
            <a:ext cx="772678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Перенос задания на </a:t>
            </a:r>
            <a:r>
              <a:rPr lang="en-US" sz="2400" dirty="0">
                <a:latin typeface="Montserrat" panose="020B0604020202020204" charset="-52"/>
              </a:rPr>
              <a:t>Kanban-</a:t>
            </a:r>
            <a:r>
              <a:rPr lang="ru-RU" sz="2400" dirty="0">
                <a:latin typeface="Montserrat" panose="020B0604020202020204" charset="-52"/>
              </a:rPr>
              <a:t>доске.</a:t>
            </a: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3D0A6DCC-9F91-4D6F-8C12-F8C9D6742D8B}"/>
              </a:ext>
            </a:extLst>
          </p:cNvPr>
          <p:cNvSpPr txBox="1"/>
          <p:nvPr/>
        </p:nvSpPr>
        <p:spPr>
          <a:xfrm>
            <a:off x="2257556" y="8420100"/>
            <a:ext cx="772678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>
                <a:latin typeface="Montserrat" panose="020B0604020202020204" charset="-52"/>
              </a:rPr>
              <a:t>Формирование отчета о количестве заданий.</a:t>
            </a:r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C669FFBA-F02A-4080-98F2-48D24003F831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Номер слайда 59">
            <a:extLst>
              <a:ext uri="{FF2B5EF4-FFF2-40B4-BE49-F238E27FC236}">
                <a16:creationId xmlns:a16="http://schemas.microsoft.com/office/drawing/2014/main" id="{31D5F64B-7735-49F3-97DA-2AC1F45B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9519393"/>
            <a:ext cx="736150" cy="369332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18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1711277">
            <a:off x="9261101" y="1500259"/>
            <a:ext cx="10771889" cy="1140752"/>
          </a:xfrm>
          <a:custGeom>
            <a:avLst/>
            <a:gdLst/>
            <a:ahLst/>
            <a:cxnLst/>
            <a:rect l="l" t="t" r="r" b="b"/>
            <a:pathLst>
              <a:path w="10771889" h="1140752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4" name="Freeform 4"/>
          <p:cNvSpPr/>
          <p:nvPr/>
        </p:nvSpPr>
        <p:spPr>
          <a:xfrm rot="-8949716">
            <a:off x="-2342739" y="8347255"/>
            <a:ext cx="10771889" cy="1140752"/>
          </a:xfrm>
          <a:custGeom>
            <a:avLst/>
            <a:gdLst/>
            <a:ahLst/>
            <a:cxnLst/>
            <a:rect l="l" t="t" r="r" b="b"/>
            <a:pathLst>
              <a:path w="10771889" h="1140752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8271" y="273275"/>
            <a:ext cx="11734800" cy="1805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91"/>
              </a:lnSpc>
              <a:spcBef>
                <a:spcPct val="0"/>
              </a:spcBef>
            </a:pPr>
            <a:r>
              <a:rPr lang="ru-RU" sz="4800" b="1" spc="184" dirty="0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Отображение прикрепленного файла в регистре</a:t>
            </a:r>
            <a:endParaRPr lang="ru-RU" sz="4800" b="1" u="none" strike="noStrike" spc="184" dirty="0">
              <a:solidFill>
                <a:srgbClr val="010101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-46214" y="7097814"/>
            <a:ext cx="5669664" cy="3189186"/>
            <a:chOff x="0" y="0"/>
            <a:chExt cx="6089457" cy="34253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89457" cy="3425320"/>
            </a:xfrm>
            <a:custGeom>
              <a:avLst/>
              <a:gdLst/>
              <a:ahLst/>
              <a:cxnLst/>
              <a:rect l="l" t="t" r="r" b="b"/>
              <a:pathLst>
                <a:path w="6089457" h="3425320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6089457" cy="3425320"/>
            </a:xfrm>
            <a:custGeom>
              <a:avLst/>
              <a:gdLst/>
              <a:ahLst/>
              <a:cxnLst/>
              <a:rect l="l" t="t" r="r" b="b"/>
              <a:pathLst>
                <a:path w="6089457" h="3425320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11006092" y="-6332"/>
            <a:ext cx="7281908" cy="4096074"/>
            <a:chOff x="0" y="0"/>
            <a:chExt cx="6089457" cy="34253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89457" cy="3425320"/>
            </a:xfrm>
            <a:custGeom>
              <a:avLst/>
              <a:gdLst/>
              <a:ahLst/>
              <a:cxnLst/>
              <a:rect l="l" t="t" r="r" b="b"/>
              <a:pathLst>
                <a:path w="6089457" h="3425320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6089457" cy="3425320"/>
            </a:xfrm>
            <a:custGeom>
              <a:avLst/>
              <a:gdLst/>
              <a:ahLst/>
              <a:cxnLst/>
              <a:rect l="l" t="t" r="r" b="b"/>
              <a:pathLst>
                <a:path w="6089457" h="3425320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t="-5555" b="-5555"/>
              </a:stretch>
            </a:blipFill>
          </p:spPr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F4A254D-F1FC-445E-9033-1742FA653FF0}"/>
              </a:ext>
            </a:extLst>
          </p:cNvPr>
          <p:cNvPicPr/>
          <p:nvPr/>
        </p:nvPicPr>
        <p:blipFill rotWithShape="1">
          <a:blip r:embed="rId6"/>
          <a:srcRect r="31620" b="42194"/>
          <a:stretch/>
        </p:blipFill>
        <p:spPr bwMode="auto">
          <a:xfrm>
            <a:off x="608271" y="2397743"/>
            <a:ext cx="8037335" cy="39834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F57867-01B5-4AFE-8F7C-939AAF0AF3EB}"/>
              </a:ext>
            </a:extLst>
          </p:cNvPr>
          <p:cNvPicPr/>
          <p:nvPr/>
        </p:nvPicPr>
        <p:blipFill rotWithShape="1">
          <a:blip r:embed="rId7"/>
          <a:srcRect l="16725" b="24213"/>
          <a:stretch/>
        </p:blipFill>
        <p:spPr>
          <a:xfrm>
            <a:off x="9601200" y="2397743"/>
            <a:ext cx="8077200" cy="398344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C828AB0-18B5-4B27-BDAD-B20A3AF203B5}"/>
              </a:ext>
            </a:extLst>
          </p:cNvPr>
          <p:cNvPicPr/>
          <p:nvPr/>
        </p:nvPicPr>
        <p:blipFill rotWithShape="1">
          <a:blip r:embed="rId8"/>
          <a:srcRect l="32976" t="33972" r="31310" b="26844"/>
          <a:stretch/>
        </p:blipFill>
        <p:spPr>
          <a:xfrm>
            <a:off x="864734" y="6951459"/>
            <a:ext cx="5257801" cy="28143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444A8D0-91AF-49D3-ADA0-1E9F55A0665F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8367199" y="7383414"/>
            <a:ext cx="9481246" cy="12639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DE0EE480-6DE5-44AB-B951-A41BE837C270}"/>
              </a:ext>
            </a:extLst>
          </p:cNvPr>
          <p:cNvSpPr/>
          <p:nvPr/>
        </p:nvSpPr>
        <p:spPr>
          <a:xfrm>
            <a:off x="304800" y="2281681"/>
            <a:ext cx="838200" cy="838200"/>
          </a:xfrm>
          <a:prstGeom prst="ellipse">
            <a:avLst/>
          </a:prstGeom>
          <a:solidFill>
            <a:srgbClr val="495A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29C2A72-8E60-4B01-A1AE-B807FE8F00CC}"/>
              </a:ext>
            </a:extLst>
          </p:cNvPr>
          <p:cNvSpPr/>
          <p:nvPr/>
        </p:nvSpPr>
        <p:spPr>
          <a:xfrm>
            <a:off x="9143665" y="2136993"/>
            <a:ext cx="838200" cy="838200"/>
          </a:xfrm>
          <a:prstGeom prst="ellipse">
            <a:avLst/>
          </a:prstGeom>
          <a:solidFill>
            <a:srgbClr val="495A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5104965-60DA-412B-A8D1-43D2F518E2E8}"/>
              </a:ext>
            </a:extLst>
          </p:cNvPr>
          <p:cNvSpPr/>
          <p:nvPr/>
        </p:nvSpPr>
        <p:spPr>
          <a:xfrm>
            <a:off x="304800" y="6678714"/>
            <a:ext cx="838200" cy="838200"/>
          </a:xfrm>
          <a:prstGeom prst="ellipse">
            <a:avLst/>
          </a:prstGeom>
          <a:solidFill>
            <a:srgbClr val="495A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16C73385-D701-4A5A-AB75-A5A6BBD4D080}"/>
              </a:ext>
            </a:extLst>
          </p:cNvPr>
          <p:cNvSpPr/>
          <p:nvPr/>
        </p:nvSpPr>
        <p:spPr>
          <a:xfrm>
            <a:off x="7807406" y="6932676"/>
            <a:ext cx="838200" cy="838200"/>
          </a:xfrm>
          <a:prstGeom prst="ellipse">
            <a:avLst/>
          </a:prstGeom>
          <a:solidFill>
            <a:srgbClr val="495A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FC7C0-55F9-464C-AC2A-89A79D552A49}"/>
              </a:ext>
            </a:extLst>
          </p:cNvPr>
          <p:cNvSpPr txBox="1"/>
          <p:nvPr/>
        </p:nvSpPr>
        <p:spPr>
          <a:xfrm>
            <a:off x="340216" y="2158657"/>
            <a:ext cx="838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20B0604020202020204" charset="-52"/>
              </a:rPr>
              <a:t>01</a:t>
            </a:r>
            <a:endParaRPr lang="ru-RU" sz="4000" dirty="0">
              <a:solidFill>
                <a:schemeClr val="bg1"/>
              </a:solidFill>
              <a:latin typeface="Montserrat Bold" panose="020B0604020202020204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CDDD1-9222-4886-B969-0E394681F8F3}"/>
              </a:ext>
            </a:extLst>
          </p:cNvPr>
          <p:cNvSpPr txBox="1"/>
          <p:nvPr/>
        </p:nvSpPr>
        <p:spPr>
          <a:xfrm>
            <a:off x="9182100" y="2037314"/>
            <a:ext cx="838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20B0604020202020204" charset="-52"/>
              </a:rPr>
              <a:t>02</a:t>
            </a:r>
            <a:endParaRPr lang="ru-RU" sz="4000" dirty="0">
              <a:solidFill>
                <a:schemeClr val="bg1"/>
              </a:solidFill>
              <a:latin typeface="Montserrat Bold" panose="020B0604020202020204" charset="-5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810D24-67D2-4BA2-AAF8-EAE812AC943A}"/>
              </a:ext>
            </a:extLst>
          </p:cNvPr>
          <p:cNvSpPr txBox="1"/>
          <p:nvPr/>
        </p:nvSpPr>
        <p:spPr>
          <a:xfrm>
            <a:off x="304800" y="6573478"/>
            <a:ext cx="838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20B0604020202020204" charset="-52"/>
              </a:rPr>
              <a:t>03</a:t>
            </a:r>
            <a:endParaRPr lang="ru-RU" sz="4000" dirty="0">
              <a:solidFill>
                <a:schemeClr val="bg1"/>
              </a:solidFill>
              <a:latin typeface="Montserrat Bold" panose="020B0604020202020204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65DB03-2549-4E74-9E8D-FD9FD376DE05}"/>
              </a:ext>
            </a:extLst>
          </p:cNvPr>
          <p:cNvSpPr txBox="1"/>
          <p:nvPr/>
        </p:nvSpPr>
        <p:spPr>
          <a:xfrm>
            <a:off x="7772400" y="6831923"/>
            <a:ext cx="882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20B0604020202020204" charset="-52"/>
              </a:rPr>
              <a:t>04</a:t>
            </a:r>
            <a:endParaRPr lang="ru-RU" sz="4000" dirty="0">
              <a:solidFill>
                <a:schemeClr val="bg1"/>
              </a:solidFill>
              <a:latin typeface="Montserrat Bold" panose="020B0604020202020204" charset="-52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B51E3A46-D7DB-4F16-97C6-2F17C424FA6C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100B61E-B25C-4CE4-8E64-4B802334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66147" y="9526270"/>
            <a:ext cx="680521" cy="355578"/>
          </a:xfrm>
        </p:spPr>
        <p:txBody>
          <a:bodyPr/>
          <a:lstStyle/>
          <a:p>
            <a:pPr algn="ctr"/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 algn="ctr"/>
              <a:t>19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9C7DF9EC-AEF4-4137-87D0-F2EFA8AEA543}"/>
              </a:ext>
            </a:extLst>
          </p:cNvPr>
          <p:cNvSpPr txBox="1"/>
          <p:nvPr/>
        </p:nvSpPr>
        <p:spPr>
          <a:xfrm>
            <a:off x="1300010" y="6411461"/>
            <a:ext cx="704150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</a:t>
            </a:r>
            <a:r>
              <a:rPr lang="en-US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1</a:t>
            </a:r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9 – Форма документа Задания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1B2BC8AB-6F04-4850-A7CE-EBBA8C17C374}"/>
              </a:ext>
            </a:extLst>
          </p:cNvPr>
          <p:cNvSpPr txBox="1"/>
          <p:nvPr/>
        </p:nvSpPr>
        <p:spPr>
          <a:xfrm>
            <a:off x="10119046" y="6494048"/>
            <a:ext cx="704150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20 – Выбор файла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9FDC7657-8F44-487C-8FA0-4610846B8088}"/>
              </a:ext>
            </a:extLst>
          </p:cNvPr>
          <p:cNvSpPr txBox="1"/>
          <p:nvPr/>
        </p:nvSpPr>
        <p:spPr>
          <a:xfrm>
            <a:off x="11709" y="9841151"/>
            <a:ext cx="84934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21 – Сообщение об успешной операции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36312E12-7297-4754-8466-7E4A98B5C8C2}"/>
              </a:ext>
            </a:extLst>
          </p:cNvPr>
          <p:cNvSpPr txBox="1"/>
          <p:nvPr/>
        </p:nvSpPr>
        <p:spPr>
          <a:xfrm>
            <a:off x="9981865" y="8805324"/>
            <a:ext cx="704150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2400" spc="79" dirty="0">
                <a:latin typeface="Montserrat" panose="020B0604020202020204" charset="-52"/>
                <a:ea typeface="Archivo Black"/>
                <a:cs typeface="Archivo Black"/>
                <a:sym typeface="Archivo Black"/>
              </a:rPr>
              <a:t>Рисунок 22 – Регистр сведений «Файлы»</a:t>
            </a:r>
            <a:endParaRPr lang="en-US" sz="2400" spc="79" dirty="0">
              <a:latin typeface="Montserrat" panose="020B0604020202020204" charset="-52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3862209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8599743" y="-3261333"/>
            <a:ext cx="1088513" cy="18288000"/>
            <a:chOff x="0" y="0"/>
            <a:chExt cx="286687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0" name="Freeform 6">
            <a:extLst>
              <a:ext uri="{FF2B5EF4-FFF2-40B4-BE49-F238E27FC236}">
                <a16:creationId xmlns:a16="http://schemas.microsoft.com/office/drawing/2014/main" id="{7B098BEE-66AF-4D0A-9428-0D599B30FAB8}"/>
              </a:ext>
            </a:extLst>
          </p:cNvPr>
          <p:cNvSpPr/>
          <p:nvPr/>
        </p:nvSpPr>
        <p:spPr>
          <a:xfrm>
            <a:off x="0" y="6235092"/>
            <a:ext cx="18270100" cy="7467944"/>
          </a:xfrm>
          <a:custGeom>
            <a:avLst/>
            <a:gdLst/>
            <a:ahLst/>
            <a:cxnLst/>
            <a:rect l="l" t="t" r="r" b="b"/>
            <a:pathLst>
              <a:path w="18270100" h="7467944">
                <a:moveTo>
                  <a:pt x="0" y="0"/>
                </a:moveTo>
                <a:lnTo>
                  <a:pt x="18270100" y="0"/>
                </a:lnTo>
                <a:lnTo>
                  <a:pt x="18270100" y="7467944"/>
                </a:lnTo>
                <a:lnTo>
                  <a:pt x="0" y="7467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574" b="-3157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42275" y="4031724"/>
            <a:ext cx="4595005" cy="3573491"/>
            <a:chOff x="0" y="0"/>
            <a:chExt cx="1210207" cy="9411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00903" y="1530501"/>
            <a:ext cx="8904094" cy="898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91"/>
              </a:lnSpc>
              <a:spcBef>
                <a:spcPct val="0"/>
              </a:spcBef>
            </a:pPr>
            <a:r>
              <a:rPr lang="ru-RU" sz="5283" u="none" strike="noStrike" spc="184" dirty="0">
                <a:solidFill>
                  <a:srgbClr val="010101"/>
                </a:solidFill>
                <a:latin typeface="Montserrat Bold" panose="020B0604020202020204" charset="-52"/>
                <a:ea typeface="Archivo Black"/>
                <a:cs typeface="Archivo Black"/>
                <a:sym typeface="Archivo Black"/>
              </a:rPr>
              <a:t>Заключение</a:t>
            </a:r>
            <a:endParaRPr lang="en-US" sz="5283" u="none" strike="noStrike" spc="184" dirty="0">
              <a:solidFill>
                <a:srgbClr val="010101"/>
              </a:solidFill>
              <a:latin typeface="Montserrat Bold" panose="020B0604020202020204" charset="-52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64349" y="2574450"/>
            <a:ext cx="11754638" cy="105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ru-RU" sz="2000" dirty="0">
                <a:solidFill>
                  <a:srgbClr val="100F0D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Разработанный планировщик задач на платформе «1С: Предприятие» представляет собой современное, удобное и эффективное решение для управления задачами и проектами.</a:t>
            </a:r>
            <a:endParaRPr lang="en-US" sz="2000" dirty="0">
              <a:solidFill>
                <a:srgbClr val="100F0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954088" y="3875355"/>
            <a:ext cx="157787" cy="156369"/>
            <a:chOff x="0" y="0"/>
            <a:chExt cx="320400" cy="317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984281" y="3875355"/>
            <a:ext cx="1047779" cy="1124013"/>
            <a:chOff x="0" y="0"/>
            <a:chExt cx="2127600" cy="2282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3262670" y="4221335"/>
            <a:ext cx="2745392" cy="74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ru-RU" sz="2168" b="1" u="none" strike="noStrike" spc="2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Интуитивный интерфейс</a:t>
            </a:r>
            <a:endParaRPr lang="en-US" sz="2168" b="1" u="none" strike="noStrike" spc="212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58051" y="5319361"/>
            <a:ext cx="205549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1600" dirty="0">
                <a:latin typeface="Montserrat" panose="020B0604020202020204" charset="-52"/>
              </a:rPr>
              <a:t>Продуманный пользовательский интерфейс делает систему удобной для пользователей с разным уровнем технической подготовки.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844166" y="4031724"/>
            <a:ext cx="4595005" cy="3573491"/>
            <a:chOff x="0" y="0"/>
            <a:chExt cx="1210207" cy="9411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58780" y="3875355"/>
            <a:ext cx="157787" cy="156369"/>
            <a:chOff x="0" y="0"/>
            <a:chExt cx="320400" cy="317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088973" y="3875355"/>
            <a:ext cx="1047779" cy="1124013"/>
            <a:chOff x="0" y="0"/>
            <a:chExt cx="2127600" cy="2282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8319013" y="4229100"/>
            <a:ext cx="2745392" cy="74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ru-RU" sz="2168" b="1" u="none" strike="noStrike" spc="2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Автоматизация процессов</a:t>
            </a:r>
            <a:endParaRPr lang="en-US" sz="2168" b="1" u="none" strike="noStrike" spc="212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259943" y="5319361"/>
            <a:ext cx="2179228" cy="1833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73"/>
              </a:lnSpc>
            </a:pPr>
            <a:r>
              <a:rPr lang="ru-RU" sz="1400" spc="1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содержит контроль сроков, распределение нагрузки на сотрудников, а также обработку исключительных ситуация</a:t>
            </a:r>
            <a:r>
              <a:rPr lang="en-US" sz="1400" spc="1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953521" y="4031724"/>
            <a:ext cx="4595005" cy="3573491"/>
            <a:chOff x="0" y="0"/>
            <a:chExt cx="1210207" cy="9411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168135" y="3875355"/>
            <a:ext cx="157787" cy="156369"/>
            <a:chOff x="0" y="0"/>
            <a:chExt cx="320400" cy="317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181877" y="3875355"/>
            <a:ext cx="1047779" cy="1124013"/>
            <a:chOff x="0" y="0"/>
            <a:chExt cx="2127600" cy="2282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3411917" y="425534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ru-RU" sz="2168" b="1" u="none" strike="noStrike" spc="21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Безопасность</a:t>
            </a:r>
            <a:endParaRPr lang="en-US" sz="2168" b="1" u="none" strike="noStrike" spc="212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355648" y="5319361"/>
            <a:ext cx="1975728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3"/>
              </a:lnSpc>
            </a:pPr>
            <a:r>
              <a:rPr lang="ru-RU" sz="1600" spc="1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Разграничение прав доступа в зависимости от должности для защиты данных</a:t>
            </a:r>
            <a:r>
              <a:rPr lang="ru-RU" sz="1285" spc="1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n-US" sz="1285" spc="12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365827C1-3930-4397-9BD6-7AEF2EC254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2" y="5372146"/>
            <a:ext cx="1674811" cy="1674811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615F52E-4905-4476-AB51-C81F8BF905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448" y="5315967"/>
            <a:ext cx="1704214" cy="1704214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0497CFE-1BA1-48AA-A941-42EFC335F4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5817" y="5233738"/>
            <a:ext cx="1775654" cy="1775654"/>
          </a:xfrm>
          <a:prstGeom prst="rect">
            <a:avLst/>
          </a:prstGeom>
        </p:spPr>
      </p:pic>
      <p:sp>
        <p:nvSpPr>
          <p:cNvPr id="41" name="Овал 40">
            <a:extLst>
              <a:ext uri="{FF2B5EF4-FFF2-40B4-BE49-F238E27FC236}">
                <a16:creationId xmlns:a16="http://schemas.microsoft.com/office/drawing/2014/main" id="{018D3D5A-DC64-441A-A4AC-5D229E81A73E}"/>
              </a:ext>
            </a:extLst>
          </p:cNvPr>
          <p:cNvSpPr/>
          <p:nvPr/>
        </p:nvSpPr>
        <p:spPr>
          <a:xfrm>
            <a:off x="17221200" y="9318851"/>
            <a:ext cx="770417" cy="770417"/>
          </a:xfrm>
          <a:prstGeom prst="ellipse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Номер слайда 60">
            <a:extLst>
              <a:ext uri="{FF2B5EF4-FFF2-40B4-BE49-F238E27FC236}">
                <a16:creationId xmlns:a16="http://schemas.microsoft.com/office/drawing/2014/main" id="{1084889C-56D1-41B5-82C6-6C58B1B5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31498" y="9537060"/>
            <a:ext cx="770416" cy="333998"/>
          </a:xfrm>
        </p:spPr>
        <p:txBody>
          <a:bodyPr/>
          <a:lstStyle/>
          <a:p>
            <a:fld id="{B6F15528-21DE-4FAA-801E-634DDDAF4B2B}" type="slidenum">
              <a:rPr lang="en-US" sz="360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B0604020202020204" charset="-52"/>
              </a:rPr>
              <a:pPr/>
              <a:t>20</a:t>
            </a:fld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B0604020202020204" charset="-5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A12604-82C0-4257-92DE-B05CE53DE40B}"/>
              </a:ext>
            </a:extLst>
          </p:cNvPr>
          <p:cNvSpPr txBox="1"/>
          <p:nvPr/>
        </p:nvSpPr>
        <p:spPr>
          <a:xfrm>
            <a:off x="3431560" y="8475405"/>
            <a:ext cx="12520298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600" spc="220" dirty="0">
                <a:latin typeface="Montserrat" panose="020B0604020202020204" charset="-52"/>
              </a:rPr>
              <a:t>Новые информационные технологии в научных исследованиях: материалы </a:t>
            </a:r>
            <a:r>
              <a:rPr lang="en-US" sz="1600" spc="220" dirty="0">
                <a:latin typeface="Montserrat" panose="020B0604020202020204" charset="-52"/>
              </a:rPr>
              <a:t>XXIX</a:t>
            </a:r>
            <a:r>
              <a:rPr lang="ru-RU" sz="1600" spc="220" dirty="0">
                <a:latin typeface="Montserrat" panose="020B0604020202020204" charset="-52"/>
              </a:rPr>
              <a:t> Всероссийской научно-технической конференции студентов, молодых ученых и специалистов. – ИП Коняхин А.В., 2024. – 260 с.</a:t>
            </a:r>
          </a:p>
          <a:p>
            <a:pPr algn="ctr"/>
            <a:endParaRPr lang="ru-RU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753</Words>
  <Application>Microsoft Office PowerPoint</Application>
  <PresentationFormat>Произвольный</PresentationFormat>
  <Paragraphs>157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Calibri</vt:lpstr>
      <vt:lpstr>Montserrat Bold</vt:lpstr>
      <vt:lpstr>Franklin Gothic Demi</vt:lpstr>
      <vt:lpstr>Arial</vt:lpstr>
      <vt:lpstr>Be Vietnam</vt:lpstr>
      <vt:lpstr>Montserrat</vt:lpstr>
      <vt:lpstr>Open Sauce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Modern Professional Business Project Presentation</dc:title>
  <dc:creator>User</dc:creator>
  <cp:lastModifiedBy>hramenkovaelena36@gmail.com</cp:lastModifiedBy>
  <cp:revision>56</cp:revision>
  <dcterms:created xsi:type="dcterms:W3CDTF">2006-08-16T00:00:00Z</dcterms:created>
  <dcterms:modified xsi:type="dcterms:W3CDTF">2025-06-15T10:23:12Z</dcterms:modified>
  <dc:identifier>DAGpOEJCHKM</dc:identifier>
</cp:coreProperties>
</file>